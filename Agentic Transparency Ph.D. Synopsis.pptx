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DM Sans" pitchFamily="2" charset="0"/>
      <p:bold r:id="rId18"/>
    </p:embeddedFont>
    <p:embeddedFont>
      <p:font typeface="IBM Plex Mono" panose="020B0509050203000203" pitchFamily="49" charset="0"/>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964" autoAdjust="0"/>
  </p:normalViewPr>
  <p:slideViewPr>
    <p:cSldViewPr snapToGrid="0" snapToObjects="1">
      <p:cViewPr varScale="1">
        <p:scale>
          <a:sx n="48" d="100"/>
          <a:sy n="48" d="100"/>
        </p:scale>
        <p:origin x="1340"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5DBEF1-A9E0-42FD-9D81-561644236889}" type="datetimeFigureOut">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173CEB-76D3-459E-8AF1-3B084B9FAC1C}" type="slidenum">
              <a:rPr lang="en-IN" smtClean="0"/>
              <a:t>‹#›</a:t>
            </a:fld>
            <a:endParaRPr lang="en-IN"/>
          </a:p>
        </p:txBody>
      </p:sp>
    </p:spTree>
    <p:extLst>
      <p:ext uri="{BB962C8B-B14F-4D97-AF65-F5344CB8AC3E}">
        <p14:creationId xmlns:p14="http://schemas.microsoft.com/office/powerpoint/2010/main" val="816484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Chair, esteemed members of the Doctoral Committee, and my supervisor Prof. (Dr.) Himangi Verma. I am Prajapati Jaiprakash </a:t>
            </a:r>
            <a:r>
              <a:rPr lang="en-US" dirty="0" err="1"/>
              <a:t>Ramashrey</a:t>
            </a:r>
            <a:r>
              <a:rPr lang="en-US" dirty="0"/>
              <a:t>, Roll Number 25380178004. Today, I present my proposed doctoral synopsis titled </a:t>
            </a:r>
            <a:r>
              <a:rPr lang="en-US" i="1" dirty="0"/>
              <a:t>‘Agentic Transparency: A Multi-Agent LLM Framework for Regulatory-Compliant Credit Risk Explainability.’</a:t>
            </a:r>
            <a:r>
              <a:rPr lang="en-US" dirty="0"/>
              <a:t> Our research addresses a pressing challenge at the intersection of Explainable AI, Natural Language Processing, and financial regulation: how to translate complex, non-linear machine learning credit rejections into verifiable, borrower-friendly adverse action notices in both English and Hindi without compromising data privacy or algorithmic fidelity. Let me begin by situating this problem within the Indian digital lending landscape.</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a:t>
            </a:fld>
            <a:endParaRPr lang="en-IN"/>
          </a:p>
        </p:txBody>
      </p:sp>
    </p:spTree>
    <p:extLst>
      <p:ext uri="{BB962C8B-B14F-4D97-AF65-F5344CB8AC3E}">
        <p14:creationId xmlns:p14="http://schemas.microsoft.com/office/powerpoint/2010/main" val="2575403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India’s Banking, Financial Services, and Insurance sector has rapidly transitioned from manual, collateral-based underwriting to high-velocity digital lending powered by alternative data—such as UPI transaction velocity, Account Aggregator cash-flow statements, and telecom patterns. To capture non-linear interactions across hundreds of such variables, NBFCs and FinTech lenders rely on gradient-boosted decision trees like </a:t>
            </a:r>
            <a:r>
              <a:rPr lang="en-US" dirty="0" err="1"/>
              <a:t>XGBoost</a:t>
            </a:r>
            <a:r>
              <a:rPr lang="en-US" dirty="0"/>
              <a:t> and </a:t>
            </a:r>
            <a:r>
              <a:rPr lang="en-US" dirty="0" err="1"/>
              <a:t>LightGBM</a:t>
            </a:r>
            <a:r>
              <a:rPr lang="en-US" dirty="0"/>
              <a:t>. While these models significantly improve default prediction, they operate as black boxes. However, under the Reserve Bank of India’s Fair Practices Code of 2006 and the Digital Lending Guidelines of 2022, Regulated Entities remain legally accountable for providing rejected borrowers with clear, written, and understandable reasons for credit denial. This creates a structural conflict between predictive sophistication and regulatory transparency.</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2</a:t>
            </a:fld>
            <a:endParaRPr lang="en-IN"/>
          </a:p>
        </p:txBody>
      </p:sp>
    </p:spTree>
    <p:extLst>
      <p:ext uri="{BB962C8B-B14F-4D97-AF65-F5344CB8AC3E}">
        <p14:creationId xmlns:p14="http://schemas.microsoft.com/office/powerpoint/2010/main" val="3217731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inspect black-box models, data scientists routinely apply post-hoc explainability methods, most notably SHAP, grounded in cooperative game theory. However, a serious operational gap remains. First, raw SHAP outputs are numerical feature-attribution vectors—meaningful to a data scientist, but unintelligible to an ordinary retail or MSME borrower. Second, relying on human compliance officers to manually interpret SHAP plots and draft notices creates a severe bottleneck that negates the speed of automated underwriting. Third, as Geng et al. (2026) recently demonstrated, allowing an unconstrained Large Language Model to independently explain credit risk leads to hallucinated or unsupported rejection grounds. Our central research problem is therefore how to automate borrower-facing adverse action notices that remain strictly faithful to verified model attributions.</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3</a:t>
            </a:fld>
            <a:endParaRPr lang="en-IN"/>
          </a:p>
        </p:txBody>
      </p:sp>
    </p:spTree>
    <p:extLst>
      <p:ext uri="{BB962C8B-B14F-4D97-AF65-F5344CB8AC3E}">
        <p14:creationId xmlns:p14="http://schemas.microsoft.com/office/powerpoint/2010/main" val="1422629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proposed study is motivated by four practical imperatives in Indian digital lending. First, regulatory compliance: lenders require a systematic mechanism to generate written adverse action notices aligned with RBI fair-lending norms. Second, the explainability-to-usability bridge: converting mathematical attribution weights into plain, actionable English and Hindi prose. Third, mitigation of algorithmic hallucination: ensuring that generative AI never invents unverified rejection reasons or unauthorized financial advice. Fourth, data sovereignty: credit underwriting involves highly sensitive personal financial records. Transmitting borrower data to third-party commercial cloud APIs introduces privacy and regulatory exposure, motivating an air-gapped, locally hosted architecture.</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4</a:t>
            </a:fld>
            <a:endParaRPr lang="en-IN"/>
          </a:p>
        </p:txBody>
      </p:sp>
    </p:spTree>
    <p:extLst>
      <p:ext uri="{BB962C8B-B14F-4D97-AF65-F5344CB8AC3E}">
        <p14:creationId xmlns:p14="http://schemas.microsoft.com/office/powerpoint/2010/main" val="1308223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synthesizes three recent research streams. First, Geng et al. (2026) showed that LLMs cannot reliably infer non-linear feature rankings from raw borrower profiles alone, but perform effectively when supplied with SHAP rankings in controlled prompts. However, they stop short of formatting formal regulatory adverse action notices-leaving </a:t>
            </a:r>
          </a:p>
          <a:p>
            <a:endParaRPr lang="en-US" dirty="0"/>
          </a:p>
          <a:p>
            <a:r>
              <a:rPr lang="en-US" i="1" dirty="0"/>
              <a:t>Gap 1: the Regulatory Translation Gap</a:t>
            </a:r>
            <a:r>
              <a:rPr lang="en-US" dirty="0"/>
              <a:t>. Second, </a:t>
            </a:r>
            <a:r>
              <a:rPr lang="en-US" dirty="0" err="1"/>
              <a:t>Aljunaid</a:t>
            </a:r>
            <a:r>
              <a:rPr lang="en-US" dirty="0"/>
              <a:t> et al. (2025) combined explainability with distributed banking models, yet predictive scoring, SHAP extraction, and regulatory text generation remain decoupled-leaving </a:t>
            </a:r>
          </a:p>
          <a:p>
            <a:r>
              <a:rPr lang="en-US" i="1" dirty="0"/>
              <a:t>Gap 2: the Edge Multi-Agent Architectural Gap</a:t>
            </a:r>
            <a:r>
              <a:rPr lang="en-US" dirty="0"/>
              <a:t>. Third, while Wu et al. (2026) protected training privacy via federated learning, borrower explanation pipelines still frequently rely on external cloud LLMs-leaving </a:t>
            </a:r>
          </a:p>
          <a:p>
            <a:r>
              <a:rPr lang="en-US" i="1" dirty="0"/>
              <a:t>Gap 3: the Data-Sovereign Generative Compliance Gap</a:t>
            </a:r>
            <a:r>
              <a:rPr lang="en-US" dirty="0"/>
              <a:t>.</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5</a:t>
            </a:fld>
            <a:endParaRPr lang="en-IN"/>
          </a:p>
        </p:txBody>
      </p:sp>
    </p:spTree>
    <p:extLst>
      <p:ext uri="{BB962C8B-B14F-4D97-AF65-F5344CB8AC3E}">
        <p14:creationId xmlns:p14="http://schemas.microsoft.com/office/powerpoint/2010/main" val="1450328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bridge these three gaps, our core proposition is explicit: </a:t>
            </a:r>
            <a:r>
              <a:rPr lang="en-US" i="1" dirty="0"/>
              <a:t>‘The LLM acts as a controlled narrative translator of verified model explanations, not as an autonomous credit decision-maker.’</a:t>
            </a:r>
            <a:r>
              <a:rPr lang="en-US" dirty="0"/>
              <a:t> Methodologically, our framework enforces a strict four-stage separation of concerns. Stage 1 is risk prediction, handled deterministically by </a:t>
            </a:r>
            <a:r>
              <a:rPr lang="en-US" dirty="0" err="1"/>
              <a:t>XGBoost</a:t>
            </a:r>
            <a:r>
              <a:rPr lang="en-US" dirty="0"/>
              <a:t> or </a:t>
            </a:r>
            <a:r>
              <a:rPr lang="en-US" dirty="0" err="1"/>
              <a:t>LightGBM</a:t>
            </a:r>
            <a:r>
              <a:rPr lang="en-US" dirty="0"/>
              <a:t>. Stage 2 is mathematical attribution, computed via exact </a:t>
            </a:r>
            <a:r>
              <a:rPr lang="en-US" dirty="0" err="1"/>
              <a:t>TreeSHAP</a:t>
            </a:r>
            <a:r>
              <a:rPr lang="en-US" dirty="0"/>
              <a:t>. Stage 3 is narrative translation, where a local open-weight LLM converts only the top three negative SHAP factors into English and Hindi prose. Stage 4 is regulatory verification, auditing rank agreement and compliance criteria. By stripping risk-scoring authority from the LLM, we constrain its role purely to linguistic realization.</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6</a:t>
            </a:fld>
            <a:endParaRPr lang="en-IN"/>
          </a:p>
        </p:txBody>
      </p:sp>
    </p:spTree>
    <p:extLst>
      <p:ext uri="{BB962C8B-B14F-4D97-AF65-F5344CB8AC3E}">
        <p14:creationId xmlns:p14="http://schemas.microsoft.com/office/powerpoint/2010/main" val="1041377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our proposed ten-stage, dual-agent pipeline operating entirely within a local computing environment. In Agent 1—the deterministic Underwriter Agent—raw credit datasets undergo preprocessing and classification via </a:t>
            </a:r>
            <a:r>
              <a:rPr lang="en-US" dirty="0" err="1"/>
              <a:t>XGBoost</a:t>
            </a:r>
            <a:r>
              <a:rPr lang="en-US" dirty="0"/>
              <a:t> or </a:t>
            </a:r>
            <a:r>
              <a:rPr lang="en-US" dirty="0" err="1"/>
              <a:t>LightGBM</a:t>
            </a:r>
            <a:r>
              <a:rPr lang="en-US" dirty="0"/>
              <a:t>. For every declined application, </a:t>
            </a:r>
            <a:r>
              <a:rPr lang="en-US" dirty="0" err="1"/>
              <a:t>TreeSHAP</a:t>
            </a:r>
            <a:r>
              <a:rPr lang="en-US" dirty="0"/>
              <a:t> computes exact marginal feature contributions, and the top three negative drivers are serialized into a structured JSON explanation vector. That verified vector is the </a:t>
            </a:r>
            <a:r>
              <a:rPr lang="en-US" i="1" dirty="0"/>
              <a:t>sole</a:t>
            </a:r>
            <a:r>
              <a:rPr lang="en-US" dirty="0"/>
              <a:t> input passed to Agent 2—the Local Compliance Agent, hosted via </a:t>
            </a:r>
            <a:r>
              <a:rPr lang="en-US" dirty="0" err="1"/>
              <a:t>Ollama</a:t>
            </a:r>
            <a:r>
              <a:rPr lang="en-US" dirty="0"/>
              <a:t>. Using schema-constrained zero-shot prompts, the Compliance Agent drafts bilingual English and Hindi adverse action notices, which pass through automated hallucination and rank-concordance checks. Importantly, we explicitly recognize that SHAP reflects internal model </a:t>
            </a:r>
            <a:r>
              <a:rPr lang="en-US" dirty="0" err="1"/>
              <a:t>behaviour</a:t>
            </a:r>
            <a:r>
              <a:rPr lang="en-US" dirty="0"/>
              <a:t>, not real-world causal relationships.</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7</a:t>
            </a:fld>
            <a:endParaRPr lang="en-IN"/>
          </a:p>
        </p:txBody>
      </p:sp>
    </p:spTree>
    <p:extLst>
      <p:ext uri="{BB962C8B-B14F-4D97-AF65-F5344CB8AC3E}">
        <p14:creationId xmlns:p14="http://schemas.microsoft.com/office/powerpoint/2010/main" val="2328370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operationalize this architecture, the study defines four concrete objectives. First, to develop the Predictive Underwriter Component by training gradient-boosted classifiers on high-dimensional alternative credit datasets and extracting normalized SHAP vectors for rejected cases. Second, to design a zero-shot LLM Compliance Agent using quantized open-weight models capable of translating SHAP vectors into formal English and Hindi borrower notices. Third, to engineer an API-independent, air-gapped edge pipeline that preserves data residency throughout scoring and narrative generation. And fourth, to empirically validate hallucination resistance and regulatory alignment using statistical rank-correlation metrics and structured compliance audits.</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8</a:t>
            </a:fld>
            <a:endParaRPr lang="en-IN"/>
          </a:p>
        </p:txBody>
      </p:sp>
    </p:spTree>
    <p:extLst>
      <p:ext uri="{BB962C8B-B14F-4D97-AF65-F5344CB8AC3E}">
        <p14:creationId xmlns:p14="http://schemas.microsoft.com/office/powerpoint/2010/main" val="1740825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inquiry is guided by two primary research questions. RQ1 asks how post-hoc SHAP vectors can be translated into RBI-aligned regulatory text while minimizing semantic or computational hallucinations. RQ2 asks whether SHAP-guided narratives preserve mathematical rank fidelity and regulatory clarity across both English and Hindi outputs. Correspondingly, we formulate two testable hypothesis pairs. Under Hypothesis 1, we test whether the feature-importance order in the Compliance Agent’s narrative exhibits a statistically significant positive Kendall’s Tau correlation with the underlying SHAP ranking. Under Hypothesis 2, we evaluate whether a locally orchestrated open-weight pipeline achieves strong lexical and semantic alignment with expert-drafted compliance notices.</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9</a:t>
            </a:fld>
            <a:endParaRPr lang="en-IN"/>
          </a:p>
        </p:txBody>
      </p:sp>
    </p:spTree>
    <p:extLst>
      <p:ext uri="{BB962C8B-B14F-4D97-AF65-F5344CB8AC3E}">
        <p14:creationId xmlns:p14="http://schemas.microsoft.com/office/powerpoint/2010/main" val="10627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methodology follows a rigorous two-phase computational design. In Phase 1, using anonymized benchmark datasets such as the Kaggle Home Credit Default Risk and </a:t>
            </a:r>
            <a:r>
              <a:rPr lang="en-US" dirty="0" err="1"/>
              <a:t>LendingClub</a:t>
            </a:r>
            <a:r>
              <a:rPr lang="en-US" dirty="0"/>
              <a:t> datasets, we will preprocess features and draw a stratified random sample of at least 1,000 rejected loan applications. In Phase 2, we train </a:t>
            </a:r>
            <a:r>
              <a:rPr lang="en-US" dirty="0" err="1"/>
              <a:t>XGBoost</a:t>
            </a:r>
            <a:r>
              <a:rPr lang="en-US" dirty="0"/>
              <a:t> and </a:t>
            </a:r>
            <a:r>
              <a:rPr lang="en-US" dirty="0" err="1"/>
              <a:t>LightGBM</a:t>
            </a:r>
            <a:r>
              <a:rPr lang="en-US" dirty="0"/>
              <a:t> classifiers and apply </a:t>
            </a:r>
            <a:r>
              <a:rPr lang="en-US" dirty="0" err="1"/>
              <a:t>TreeSHAP</a:t>
            </a:r>
            <a:r>
              <a:rPr lang="en-US" dirty="0"/>
              <a:t> to isolate the top three negative feature attributions per rejected applicant as structured JSON arrays. In Phase 3, we deploy quantized open-weight models—such as Llama-3 and Mistral—locally via </a:t>
            </a:r>
            <a:r>
              <a:rPr lang="en-US" dirty="0" err="1"/>
              <a:t>Ollama</a:t>
            </a:r>
            <a:r>
              <a:rPr lang="en-US" dirty="0"/>
              <a:t>, orchestrated through </a:t>
            </a:r>
            <a:r>
              <a:rPr lang="en-US" dirty="0" err="1"/>
              <a:t>LangChain</a:t>
            </a:r>
            <a:r>
              <a:rPr lang="en-US" dirty="0"/>
              <a:t>, to generate English and Hindi adverse action notices under deterministic decoding.</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10</a:t>
            </a:fld>
            <a:endParaRPr lang="en-IN"/>
          </a:p>
        </p:txBody>
      </p:sp>
    </p:spTree>
    <p:extLst>
      <p:ext uri="{BB962C8B-B14F-4D97-AF65-F5344CB8AC3E}">
        <p14:creationId xmlns:p14="http://schemas.microsoft.com/office/powerpoint/2010/main" val="2488179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no single metric can validate both mathematical faithfulness and regulatory utility, we propose a seven-part evaluation framework. First, Kendall’s Tau (</a:t>
            </a:r>
            <a:r>
              <a:rPr lang="en-US" sz="1200" kern="1200" dirty="0">
                <a:solidFill>
                  <a:schemeClr val="tx1"/>
                </a:solidFill>
                <a:effectLst/>
                <a:latin typeface="+mn-lt"/>
                <a:ea typeface="+mn-ea"/>
                <a:cs typeface="+mn-cs"/>
              </a:rPr>
              <a:t>tau</a:t>
            </a:r>
            <a:r>
              <a:rPr lang="en-US" dirty="0"/>
              <a:t>) measures ordinal rank concordance between the top-three SHAP values and the order of reasons presented in the generated text. Second, the Hallucination Error Rate (HER) measures the percentage of notices that introduce any rejection factor absent from the verified SHAP vector. Third and fourth, ROUGE-L and Semantic Textual Similarity (STS) measure lexical and embedding alignment against a golden dataset of expert-written notices. Crucially, because ROUGE-L alone is insufficient evidence of legal compliance, our fifth dimension applies an Expert Regulatory Compliance Checklist aligned with RBI guidelines, complemented by English-versus-Hindi parity analysis and local latency telemetry.</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11</a:t>
            </a:fld>
            <a:endParaRPr lang="en-IN"/>
          </a:p>
        </p:txBody>
      </p:sp>
    </p:spTree>
    <p:extLst>
      <p:ext uri="{BB962C8B-B14F-4D97-AF65-F5344CB8AC3E}">
        <p14:creationId xmlns:p14="http://schemas.microsoft.com/office/powerpoint/2010/main" val="42648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isolate the scientific contribution of our dual-agent design, we will benchmark the proposed framework against three controlled baselines across the exact same 1,000 declined applications. Baseline 1 is an unconstrained Raw LLM that receives borrower profile features without SHAP values, allowing us to quantify baseline hallucination rates. Baseline 2 is a deterministic rule-based template using static slot-filling, testing the trade-off between rigid phrasing and natural readability. Our proposed third arm is the SHAP-grounded Local Compliance Agent. Finally, the fourth arm is our Gold Reference of human-drafted notices. Across all generative runs, we fix random seeds and set decoding temperature to zero for full reproducibility.</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12</a:t>
            </a:fld>
            <a:endParaRPr lang="en-IN"/>
          </a:p>
        </p:txBody>
      </p:sp>
    </p:spTree>
    <p:extLst>
      <p:ext uri="{BB962C8B-B14F-4D97-AF65-F5344CB8AC3E}">
        <p14:creationId xmlns:p14="http://schemas.microsoft.com/office/powerpoint/2010/main" val="1895441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Upon completion, this research is expected to deliver four main contributions. First, an architected Edge-</a:t>
            </a:r>
            <a:r>
              <a:rPr lang="en-US" dirty="0" err="1"/>
              <a:t>RegTech</a:t>
            </a:r>
            <a:r>
              <a:rPr lang="en-US" dirty="0"/>
              <a:t> blueprint demonstrating how deterministic machine learning explainers and local generative agents can be chained safely without external API dependencies. Second, empirical methodology for measuring narrative explainability fidelity via Kendall’s Tau and Hallucination Error Rate. Third, a practical automation workflow supporting Indian NBFCs and </a:t>
            </a:r>
            <a:r>
              <a:rPr lang="en-US" dirty="0" err="1"/>
              <a:t>FinTechs</a:t>
            </a:r>
            <a:r>
              <a:rPr lang="en-US" dirty="0"/>
              <a:t> in drafting timely adverse action notices aligned with the RBI Fair Practices Code. And fourth, cross-lingual empirical benchmarks comparing English and Hindi financial explainability for inclusive digital lending.</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13</a:t>
            </a:fld>
            <a:endParaRPr lang="en-IN"/>
          </a:p>
        </p:txBody>
      </p:sp>
    </p:spTree>
    <p:extLst>
      <p:ext uri="{BB962C8B-B14F-4D97-AF65-F5344CB8AC3E}">
        <p14:creationId xmlns:p14="http://schemas.microsoft.com/office/powerpoint/2010/main" val="2257121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interest of academic rigor, we explicitly define our study’s boundaries and ethical safeguards. First, we use public, anonymized credit datasets rather than live proprietary bank data, and we focus on explanation fidelity rather than improving classifier AUC. Second, we do not pre-train foundational LLMs from scratch, relying instead on quantized open-weight models that fit comfortably on a single 16-to-24 GB VRAM workstation. Ethically, we maintain three strict caveats: SHAP values describe internal model associations rather than real-world causality; constrained prompting reduces—but cannot mathematically guarantee zero—hallucination; and our framework is designed as a human-in-the-loop compliance support tool rather than a replacement for legal accountability.</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14</a:t>
            </a:fld>
            <a:endParaRPr lang="en-IN"/>
          </a:p>
        </p:txBody>
      </p:sp>
    </p:spTree>
    <p:extLst>
      <p:ext uri="{BB962C8B-B14F-4D97-AF65-F5344CB8AC3E}">
        <p14:creationId xmlns:p14="http://schemas.microsoft.com/office/powerpoint/2010/main" val="2314171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this 36-month doctoral roadmap structures our execution across six 6-month phases: Months 1 to 6 cover coursework, literature synthesis, and rubric design; Months 7 to 12 focus on Underwriter Agent training and </a:t>
            </a:r>
            <a:r>
              <a:rPr lang="en-US" dirty="0" err="1"/>
              <a:t>TreeSHAP</a:t>
            </a:r>
            <a:r>
              <a:rPr lang="en-US" dirty="0"/>
              <a:t> extraction; Months 13 to 18 address local </a:t>
            </a:r>
            <a:r>
              <a:rPr lang="en-US" dirty="0" err="1"/>
              <a:t>Ollama</a:t>
            </a:r>
            <a:r>
              <a:rPr lang="en-US" dirty="0"/>
              <a:t> deployment and prompt engineering; Months 19 to 24 integrate the air-gapped multi-agent pipeline; Months 25 to 30 execute bilingual evaluation across our 1,000-application sample; and Months 31 to 36 are dedicated to peer-reviewed publications and thesis submission. Thank you for your time and attention. I welcome questions and suggestions from the Committee.</a:t>
            </a:r>
            <a:endParaRPr lang="en-IN" dirty="0"/>
          </a:p>
        </p:txBody>
      </p:sp>
      <p:sp>
        <p:nvSpPr>
          <p:cNvPr id="4" name="Slide Number Placeholder 3"/>
          <p:cNvSpPr>
            <a:spLocks noGrp="1"/>
          </p:cNvSpPr>
          <p:nvPr>
            <p:ph type="sldNum" sz="quarter" idx="5"/>
          </p:nvPr>
        </p:nvSpPr>
        <p:spPr/>
        <p:txBody>
          <a:bodyPr/>
          <a:lstStyle/>
          <a:p>
            <a:fld id="{3F173CEB-76D3-459E-8AF1-3B084B9FAC1C}" type="slidenum">
              <a:rPr lang="en-IN" smtClean="0"/>
              <a:t>15</a:t>
            </a:fld>
            <a:endParaRPr lang="en-IN"/>
          </a:p>
        </p:txBody>
      </p:sp>
    </p:spTree>
    <p:extLst>
      <p:ext uri="{BB962C8B-B14F-4D97-AF65-F5344CB8AC3E}">
        <p14:creationId xmlns:p14="http://schemas.microsoft.com/office/powerpoint/2010/main" val="3509553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85800" y="5400526"/>
            <a:ext cx="10820400" cy="9239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1824930"/>
            <a:ext cx="6096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5400526"/>
            <a:ext cx="108204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533400"/>
            <a:ext cx="5162550" cy="219075"/>
          </a:xfrm>
          <a:prstGeom prst="rect">
            <a:avLst/>
          </a:prstGeom>
          <a:noFill/>
        </p:spPr>
        <p:txBody>
          <a:bodyPr wrap="square" lIns="0" tIns="0" rIns="0" bIns="0" anchor="t">
            <a:spAutoFit/>
          </a:bodyPr>
          <a:lstStyle/>
          <a:p>
            <a:pPr algn="l"/>
            <a:r>
              <a:rPr sz="1050" b="1" i="0" u="none">
                <a:solidFill>
                  <a:srgbClr val="2DD4BF"/>
                </a:solidFill>
                <a:latin typeface="IBM Plex Mono"/>
              </a:rPr>
              <a:t>PH.D. RESEARCH SYNOPSIS • COMPUTER SCIENCE &amp; ENGINEERING</a:t>
            </a:r>
          </a:p>
        </p:txBody>
      </p:sp>
      <p:sp>
        <p:nvSpPr>
          <p:cNvPr id="6" name="TextBox 5"/>
          <p:cNvSpPr txBox="1"/>
          <p:nvPr/>
        </p:nvSpPr>
        <p:spPr>
          <a:xfrm>
            <a:off x="9753600" y="557212"/>
            <a:ext cx="2190750" cy="171450"/>
          </a:xfrm>
          <a:prstGeom prst="rect">
            <a:avLst/>
          </a:prstGeom>
          <a:noFill/>
        </p:spPr>
        <p:txBody>
          <a:bodyPr wrap="none" lIns="0" tIns="0" rIns="0" bIns="0" anchor="t">
            <a:spAutoFit/>
          </a:bodyPr>
          <a:lstStyle/>
          <a:p>
            <a:pPr algn="l"/>
            <a:r>
              <a:rPr sz="1050" b="0" i="0" u="none">
                <a:solidFill>
                  <a:srgbClr val="94A3B8"/>
                </a:solidFill>
                <a:latin typeface="IBM Plex Mono"/>
              </a:rPr>
              <a:t>PROPOSED DOCTORAL STUDY</a:t>
            </a:r>
          </a:p>
        </p:txBody>
      </p:sp>
      <p:sp>
        <p:nvSpPr>
          <p:cNvPr id="7" name="TextBox 6"/>
          <p:cNvSpPr txBox="1"/>
          <p:nvPr/>
        </p:nvSpPr>
        <p:spPr>
          <a:xfrm>
            <a:off x="685800" y="2091630"/>
            <a:ext cx="10901362" cy="1550640"/>
          </a:xfrm>
          <a:prstGeom prst="rect">
            <a:avLst/>
          </a:prstGeom>
          <a:noFill/>
        </p:spPr>
        <p:txBody>
          <a:bodyPr wrap="square" lIns="0" tIns="0" rIns="0" bIns="0" anchor="t">
            <a:spAutoFit/>
          </a:bodyPr>
          <a:lstStyle/>
          <a:p>
            <a:pPr algn="l">
              <a:lnSpc>
                <a:spcPts val="4071"/>
              </a:lnSpc>
            </a:pPr>
            <a:r>
              <a:rPr sz="3450" b="1" i="0" u="none">
                <a:solidFill>
                  <a:srgbClr val="F8FAFC"/>
                </a:solidFill>
                <a:latin typeface="DM Sans"/>
              </a:rPr>
              <a:t>Agentic Transparency: A Multi-Agent LLM Framework for Regulatory-Compliant Credit Risk Explainability</a:t>
            </a:r>
          </a:p>
        </p:txBody>
      </p:sp>
      <p:sp>
        <p:nvSpPr>
          <p:cNvPr id="8" name="TextBox 7"/>
          <p:cNvSpPr txBox="1"/>
          <p:nvPr/>
        </p:nvSpPr>
        <p:spPr>
          <a:xfrm>
            <a:off x="685800" y="3832770"/>
            <a:ext cx="8858250" cy="495300"/>
          </a:xfrm>
          <a:prstGeom prst="rect">
            <a:avLst/>
          </a:prstGeom>
          <a:noFill/>
        </p:spPr>
        <p:txBody>
          <a:bodyPr wrap="square" lIns="0" tIns="0" rIns="0" bIns="0" anchor="t">
            <a:spAutoFit/>
          </a:bodyPr>
          <a:lstStyle/>
          <a:p>
            <a:pPr algn="l"/>
            <a:r>
              <a:rPr sz="1500" b="0" i="0" u="none">
                <a:solidFill>
                  <a:srgbClr val="CBD5E1"/>
                </a:solidFill>
                <a:latin typeface="DM Sans"/>
              </a:rPr>
              <a:t>Controlled narrative translation of verified SHAP attributions into bilingual borrower-facing adverse action notices</a:t>
            </a:r>
          </a:p>
        </p:txBody>
      </p:sp>
      <p:sp>
        <p:nvSpPr>
          <p:cNvPr id="9" name="TextBox 8"/>
          <p:cNvSpPr txBox="1"/>
          <p:nvPr/>
        </p:nvSpPr>
        <p:spPr>
          <a:xfrm>
            <a:off x="685800" y="5648176"/>
            <a:ext cx="3774281" cy="171450"/>
          </a:xfrm>
          <a:prstGeom prst="rect">
            <a:avLst/>
          </a:prstGeom>
          <a:noFill/>
        </p:spPr>
        <p:txBody>
          <a:bodyPr wrap="none" lIns="0" tIns="0" rIns="0" bIns="0" anchor="t">
            <a:spAutoFit/>
          </a:bodyPr>
          <a:lstStyle/>
          <a:p>
            <a:pPr algn="l"/>
            <a:r>
              <a:rPr sz="1050" b="0" i="0" u="none">
                <a:solidFill>
                  <a:srgbClr val="94A3B8"/>
                </a:solidFill>
                <a:latin typeface="DM Sans"/>
              </a:rPr>
              <a:t>PH.D. RESEARCH SCHOLAR</a:t>
            </a:r>
          </a:p>
        </p:txBody>
      </p:sp>
      <p:sp>
        <p:nvSpPr>
          <p:cNvPr id="10" name="TextBox 9"/>
          <p:cNvSpPr txBox="1"/>
          <p:nvPr/>
        </p:nvSpPr>
        <p:spPr>
          <a:xfrm>
            <a:off x="685800" y="5857726"/>
            <a:ext cx="3774281" cy="247650"/>
          </a:xfrm>
          <a:prstGeom prst="rect">
            <a:avLst/>
          </a:prstGeom>
          <a:noFill/>
        </p:spPr>
        <p:txBody>
          <a:bodyPr wrap="none" lIns="0" tIns="0" rIns="0" bIns="0" anchor="t">
            <a:spAutoFit/>
          </a:bodyPr>
          <a:lstStyle/>
          <a:p>
            <a:pPr algn="l"/>
            <a:r>
              <a:rPr sz="1500" b="1" i="0" u="none">
                <a:solidFill>
                  <a:srgbClr val="F8FAFC"/>
                </a:solidFill>
                <a:latin typeface="DM Sans"/>
              </a:rPr>
              <a:t>Prajapati Jaiprakash Ramashrey</a:t>
            </a:r>
          </a:p>
        </p:txBody>
      </p:sp>
      <p:sp>
        <p:nvSpPr>
          <p:cNvPr id="11" name="TextBox 10"/>
          <p:cNvSpPr txBox="1"/>
          <p:nvPr/>
        </p:nvSpPr>
        <p:spPr>
          <a:xfrm>
            <a:off x="685800" y="6143476"/>
            <a:ext cx="3774281" cy="180975"/>
          </a:xfrm>
          <a:prstGeom prst="rect">
            <a:avLst/>
          </a:prstGeom>
          <a:noFill/>
        </p:spPr>
        <p:txBody>
          <a:bodyPr wrap="none" lIns="0" tIns="0" rIns="0" bIns="0" anchor="t">
            <a:spAutoFit/>
          </a:bodyPr>
          <a:lstStyle/>
          <a:p>
            <a:pPr algn="l"/>
            <a:r>
              <a:rPr sz="1125" b="0" i="0" u="none">
                <a:solidFill>
                  <a:srgbClr val="2DD4BF"/>
                </a:solidFill>
                <a:latin typeface="IBM Plex Mono"/>
              </a:rPr>
              <a:t>Roll No. 25380178004</a:t>
            </a:r>
          </a:p>
        </p:txBody>
      </p:sp>
      <p:sp>
        <p:nvSpPr>
          <p:cNvPr id="12" name="TextBox 11"/>
          <p:cNvSpPr txBox="1"/>
          <p:nvPr/>
        </p:nvSpPr>
        <p:spPr>
          <a:xfrm>
            <a:off x="5105400" y="5638651"/>
            <a:ext cx="3536156" cy="171450"/>
          </a:xfrm>
          <a:prstGeom prst="rect">
            <a:avLst/>
          </a:prstGeom>
          <a:noFill/>
        </p:spPr>
        <p:txBody>
          <a:bodyPr wrap="none" lIns="0" tIns="0" rIns="0" bIns="0" anchor="t">
            <a:spAutoFit/>
          </a:bodyPr>
          <a:lstStyle/>
          <a:p>
            <a:pPr algn="l"/>
            <a:r>
              <a:rPr sz="1050" b="0" i="0" u="none">
                <a:solidFill>
                  <a:srgbClr val="94A3B8"/>
                </a:solidFill>
                <a:latin typeface="DM Sans"/>
              </a:rPr>
              <a:t>RESEARCH SUPERVISOR</a:t>
            </a:r>
          </a:p>
        </p:txBody>
      </p:sp>
      <p:sp>
        <p:nvSpPr>
          <p:cNvPr id="13" name="TextBox 12"/>
          <p:cNvSpPr txBox="1"/>
          <p:nvPr/>
        </p:nvSpPr>
        <p:spPr>
          <a:xfrm>
            <a:off x="5105400" y="5848201"/>
            <a:ext cx="3536156" cy="247650"/>
          </a:xfrm>
          <a:prstGeom prst="rect">
            <a:avLst/>
          </a:prstGeom>
          <a:noFill/>
        </p:spPr>
        <p:txBody>
          <a:bodyPr wrap="none" lIns="0" tIns="0" rIns="0" bIns="0" anchor="t">
            <a:spAutoFit/>
          </a:bodyPr>
          <a:lstStyle/>
          <a:p>
            <a:pPr algn="l"/>
            <a:r>
              <a:rPr sz="1500" b="1" i="0" u="none">
                <a:solidFill>
                  <a:srgbClr val="F8FAFC"/>
                </a:solidFill>
                <a:latin typeface="DM Sans"/>
              </a:rPr>
              <a:t>Prof. (Dr.) Himangi Verma</a:t>
            </a:r>
          </a:p>
        </p:txBody>
      </p:sp>
      <p:sp>
        <p:nvSpPr>
          <p:cNvPr id="14" name="TextBox 13"/>
          <p:cNvSpPr txBox="1"/>
          <p:nvPr/>
        </p:nvSpPr>
        <p:spPr>
          <a:xfrm>
            <a:off x="5105400" y="6133951"/>
            <a:ext cx="3536156" cy="190500"/>
          </a:xfrm>
          <a:prstGeom prst="rect">
            <a:avLst/>
          </a:prstGeom>
          <a:noFill/>
        </p:spPr>
        <p:txBody>
          <a:bodyPr wrap="none" lIns="0" tIns="0" rIns="0" bIns="0" anchor="t">
            <a:spAutoFit/>
          </a:bodyPr>
          <a:lstStyle/>
          <a:p>
            <a:pPr algn="l"/>
            <a:r>
              <a:rPr sz="1125" b="0" i="0" u="none">
                <a:solidFill>
                  <a:srgbClr val="CBD5E1"/>
                </a:solidFill>
                <a:latin typeface="DM Sans"/>
              </a:rPr>
              <a:t>Faculty of Engineering &amp; Applied Sciences</a:t>
            </a:r>
          </a:p>
        </p:txBody>
      </p:sp>
      <p:sp>
        <p:nvSpPr>
          <p:cNvPr id="15" name="TextBox 14"/>
          <p:cNvSpPr txBox="1"/>
          <p:nvPr/>
        </p:nvSpPr>
        <p:spPr>
          <a:xfrm>
            <a:off x="8791575" y="5638651"/>
            <a:ext cx="2714625" cy="171450"/>
          </a:xfrm>
          <a:prstGeom prst="rect">
            <a:avLst/>
          </a:prstGeom>
          <a:noFill/>
        </p:spPr>
        <p:txBody>
          <a:bodyPr wrap="none" lIns="0" tIns="0" rIns="0" bIns="0" anchor="t">
            <a:spAutoFit/>
          </a:bodyPr>
          <a:lstStyle/>
          <a:p>
            <a:pPr algn="r"/>
            <a:r>
              <a:rPr sz="1050" b="0" i="0" u="none">
                <a:solidFill>
                  <a:srgbClr val="F59E0B"/>
                </a:solidFill>
                <a:latin typeface="DM Sans"/>
              </a:rPr>
              <a:t>INSTITUTION</a:t>
            </a:r>
          </a:p>
        </p:txBody>
      </p:sp>
      <p:sp>
        <p:nvSpPr>
          <p:cNvPr id="16" name="TextBox 15"/>
          <p:cNvSpPr txBox="1"/>
          <p:nvPr/>
        </p:nvSpPr>
        <p:spPr>
          <a:xfrm>
            <a:off x="8791575" y="5848201"/>
            <a:ext cx="2714625" cy="247650"/>
          </a:xfrm>
          <a:prstGeom prst="rect">
            <a:avLst/>
          </a:prstGeom>
          <a:noFill/>
        </p:spPr>
        <p:txBody>
          <a:bodyPr wrap="none" lIns="0" tIns="0" rIns="0" bIns="0" anchor="t">
            <a:spAutoFit/>
          </a:bodyPr>
          <a:lstStyle/>
          <a:p>
            <a:pPr algn="r"/>
            <a:r>
              <a:rPr sz="1500" b="1" i="0" u="none">
                <a:solidFill>
                  <a:srgbClr val="F8FAFC"/>
                </a:solidFill>
                <a:latin typeface="DM Sans"/>
              </a:rPr>
              <a:t>Desh Bhagat University</a:t>
            </a:r>
          </a:p>
        </p:txBody>
      </p:sp>
      <p:sp>
        <p:nvSpPr>
          <p:cNvPr id="17" name="TextBox 16"/>
          <p:cNvSpPr txBox="1"/>
          <p:nvPr/>
        </p:nvSpPr>
        <p:spPr>
          <a:xfrm>
            <a:off x="8791575" y="6133951"/>
            <a:ext cx="2714625" cy="190500"/>
          </a:xfrm>
          <a:prstGeom prst="rect">
            <a:avLst/>
          </a:prstGeom>
          <a:noFill/>
        </p:spPr>
        <p:txBody>
          <a:bodyPr wrap="none" lIns="0" tIns="0" rIns="0" bIns="0" anchor="t">
            <a:spAutoFit/>
          </a:bodyPr>
          <a:lstStyle/>
          <a:p>
            <a:pPr algn="r"/>
            <a:r>
              <a:rPr sz="1125" b="0" i="0" u="none">
                <a:solidFill>
                  <a:srgbClr val="CBD5E1"/>
                </a:solidFill>
                <a:latin typeface="DM Sans"/>
              </a:rPr>
              <a:t>Mandi Gobindgarh, Punjab, India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828800"/>
            <a:ext cx="5572125" cy="3609975"/>
          </a:xfrm>
          <a:prstGeom prst="roundRect">
            <a:avLst>
              <a:gd name="adj" fmla="val 31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85825" y="2552700"/>
            <a:ext cx="5019675" cy="781050"/>
          </a:xfrm>
          <a:prstGeom prst="roundRect">
            <a:avLst>
              <a:gd name="adj" fmla="val 9756"/>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85825" y="3467100"/>
            <a:ext cx="5019675" cy="781050"/>
          </a:xfrm>
          <a:prstGeom prst="roundRect">
            <a:avLst>
              <a:gd name="adj" fmla="val 9756"/>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85825" y="4381500"/>
            <a:ext cx="5019675" cy="781050"/>
          </a:xfrm>
          <a:prstGeom prst="roundRect">
            <a:avLst>
              <a:gd name="adj" fmla="val 9756"/>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85825" y="2133600"/>
            <a:ext cx="209550" cy="209550"/>
          </a:xfrm>
          <a:prstGeom prst="rect">
            <a:avLst/>
          </a:prstGeom>
        </p:spPr>
      </p:pic>
      <p:sp>
        <p:nvSpPr>
          <p:cNvPr id="9" name="TextBox 8"/>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01 • DOMAIN CONTEXT</a:t>
            </a:r>
          </a:p>
        </p:txBody>
      </p:sp>
      <p:sp>
        <p:nvSpPr>
          <p:cNvPr id="10" name="TextBox 9"/>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Background &amp; Indian BFSI Context</a:t>
            </a:r>
          </a:p>
        </p:txBody>
      </p:sp>
      <p:sp>
        <p:nvSpPr>
          <p:cNvPr id="11" name="TextBox 10"/>
          <p:cNvSpPr txBox="1"/>
          <p:nvPr/>
        </p:nvSpPr>
        <p:spPr>
          <a:xfrm>
            <a:off x="609600" y="6267450"/>
            <a:ext cx="6917531" cy="171450"/>
          </a:xfrm>
          <a:prstGeom prst="rect">
            <a:avLst/>
          </a:prstGeom>
          <a:noFill/>
        </p:spPr>
        <p:txBody>
          <a:bodyPr wrap="none" lIns="0" tIns="0" rIns="0" bIns="0" anchor="t">
            <a:spAutoFit/>
          </a:bodyPr>
          <a:lstStyle/>
          <a:p>
            <a:pPr algn="l"/>
            <a:r>
              <a:rPr sz="1050" b="0" i="0" u="none">
                <a:solidFill>
                  <a:srgbClr val="475569"/>
                </a:solidFill>
                <a:latin typeface="DM Sans"/>
              </a:rPr>
              <a:t>Citations: Reserve Bank of India (2006, 2022); Ribeiro et al. (2016); Lundberg &amp; Lee (2017).</a:t>
            </a:r>
          </a:p>
        </p:txBody>
      </p:sp>
      <p:sp>
        <p:nvSpPr>
          <p:cNvPr id="12" name="TextBox 11"/>
          <p:cNvSpPr txBox="1"/>
          <p:nvPr/>
        </p:nvSpPr>
        <p:spPr>
          <a:xfrm>
            <a:off x="8610600" y="6267450"/>
            <a:ext cx="3581400" cy="171450"/>
          </a:xfrm>
          <a:prstGeom prst="rect">
            <a:avLst/>
          </a:prstGeom>
          <a:noFill/>
        </p:spPr>
        <p:txBody>
          <a:bodyPr wrap="none" lIns="0" tIns="0" rIns="0" bIns="0" anchor="t">
            <a:spAutoFit/>
          </a:bodyPr>
          <a:lstStyle/>
          <a:p>
            <a:pPr algn="l"/>
            <a:r>
              <a:rPr sz="1050" b="0" i="0" u="none">
                <a:solidFill>
                  <a:srgbClr val="0F172A"/>
                </a:solidFill>
                <a:latin typeface="IBM Plex Mono"/>
              </a:rPr>
              <a:t>Desh Bhagat University • Ph.D. Synopsis</a:t>
            </a:r>
          </a:p>
        </p:txBody>
      </p:sp>
      <p:sp>
        <p:nvSpPr>
          <p:cNvPr id="13" name="TextBox 12"/>
          <p:cNvSpPr txBox="1"/>
          <p:nvPr/>
        </p:nvSpPr>
        <p:spPr>
          <a:xfrm>
            <a:off x="885825" y="2105025"/>
            <a:ext cx="6588323" cy="276225"/>
          </a:xfrm>
          <a:prstGeom prst="rect">
            <a:avLst/>
          </a:prstGeom>
          <a:noFill/>
        </p:spPr>
        <p:txBody>
          <a:bodyPr wrap="none" lIns="304800" tIns="0" rIns="0" bIns="0" anchor="t">
            <a:spAutoFit/>
          </a:bodyPr>
          <a:lstStyle/>
          <a:p>
            <a:pPr algn="l"/>
            <a:r>
              <a:rPr sz="1650" b="1" i="0" u="none">
                <a:solidFill>
                  <a:srgbClr val="1E3A8A"/>
                </a:solidFill>
                <a:latin typeface="DM Sans"/>
              </a:rPr>
              <a:t>Algorithmic Credit Shift</a:t>
            </a:r>
          </a:p>
        </p:txBody>
      </p:sp>
      <p:sp>
        <p:nvSpPr>
          <p:cNvPr id="14" name="TextBox 13"/>
          <p:cNvSpPr txBox="1"/>
          <p:nvPr/>
        </p:nvSpPr>
        <p:spPr>
          <a:xfrm>
            <a:off x="6562725" y="2533650"/>
            <a:ext cx="5629275" cy="276225"/>
          </a:xfrm>
          <a:prstGeom prst="rect">
            <a:avLst/>
          </a:prstGeom>
          <a:noFill/>
        </p:spPr>
        <p:txBody>
          <a:bodyPr wrap="none" lIns="0" tIns="0" rIns="0" bIns="0" anchor="t">
            <a:spAutoFit/>
          </a:bodyPr>
          <a:lstStyle/>
          <a:p>
            <a:pPr algn="l"/>
            <a:r>
              <a:rPr sz="1650" b="1" i="0" u="none">
                <a:solidFill>
                  <a:srgbClr val="0F172A"/>
                </a:solidFill>
                <a:latin typeface="DM Sans"/>
              </a:rPr>
              <a:t>Regulatory Accountability in India</a:t>
            </a:r>
          </a:p>
        </p:txBody>
      </p:sp>
      <p:sp>
        <p:nvSpPr>
          <p:cNvPr id="15" name="TextBox 14"/>
          <p:cNvSpPr txBox="1"/>
          <p:nvPr/>
        </p:nvSpPr>
        <p:spPr>
          <a:xfrm>
            <a:off x="6724650" y="2971800"/>
            <a:ext cx="66675" cy="238125"/>
          </a:xfrm>
          <a:prstGeom prst="rect">
            <a:avLst/>
          </a:prstGeom>
          <a:noFill/>
        </p:spPr>
        <p:txBody>
          <a:bodyPr wrap="none" lIns="0" tIns="0" rIns="0" bIns="0" anchor="t">
            <a:spAutoFit/>
          </a:bodyPr>
          <a:lstStyle/>
          <a:p>
            <a:pPr algn="l"/>
            <a:r>
              <a:rPr sz="1425" b="0" i="0" u="none">
                <a:solidFill>
                  <a:srgbClr val="1E293B"/>
                </a:solidFill>
                <a:latin typeface="DM Sans"/>
              </a:rPr>
              <a:t>•</a:t>
            </a:r>
          </a:p>
        </p:txBody>
      </p:sp>
      <p:sp>
        <p:nvSpPr>
          <p:cNvPr id="16" name="TextBox 15"/>
          <p:cNvSpPr txBox="1"/>
          <p:nvPr/>
        </p:nvSpPr>
        <p:spPr>
          <a:xfrm>
            <a:off x="6791325" y="3000375"/>
            <a:ext cx="4886325" cy="476250"/>
          </a:xfrm>
          <a:prstGeom prst="rect">
            <a:avLst/>
          </a:prstGeom>
          <a:noFill/>
        </p:spPr>
        <p:txBody>
          <a:bodyPr wrap="square" lIns="66675" tIns="0" rIns="0" bIns="0" anchor="t">
            <a:spAutoFit/>
          </a:bodyPr>
          <a:lstStyle/>
          <a:p>
            <a:pPr algn="l"/>
            <a:r>
              <a:rPr sz="1425" b="1" i="0" u="none">
                <a:solidFill>
                  <a:srgbClr val="1E293B"/>
                </a:solidFill>
                <a:latin typeface="DM Sans"/>
              </a:rPr>
              <a:t>RBI Fair Practices Code:</a:t>
            </a:r>
            <a:r>
              <a:rPr sz="1425" b="0" i="0" u="none">
                <a:solidFill>
                  <a:srgbClr val="1E293B"/>
                </a:solidFill>
                <a:latin typeface="DM Sans"/>
              </a:rPr>
              <a:t> Mandates written, understandable loan rejection reasons for applicants.</a:t>
            </a:r>
          </a:p>
        </p:txBody>
      </p:sp>
      <p:sp>
        <p:nvSpPr>
          <p:cNvPr id="17" name="TextBox 16"/>
          <p:cNvSpPr txBox="1"/>
          <p:nvPr/>
        </p:nvSpPr>
        <p:spPr>
          <a:xfrm>
            <a:off x="6724650" y="3600450"/>
            <a:ext cx="66675" cy="238125"/>
          </a:xfrm>
          <a:prstGeom prst="rect">
            <a:avLst/>
          </a:prstGeom>
          <a:noFill/>
        </p:spPr>
        <p:txBody>
          <a:bodyPr wrap="none" lIns="0" tIns="0" rIns="0" bIns="0" anchor="t">
            <a:spAutoFit/>
          </a:bodyPr>
          <a:lstStyle/>
          <a:p>
            <a:pPr algn="l"/>
            <a:r>
              <a:rPr sz="1425" b="0" i="0" u="none">
                <a:solidFill>
                  <a:srgbClr val="1E293B"/>
                </a:solidFill>
                <a:latin typeface="DM Sans"/>
              </a:rPr>
              <a:t>•</a:t>
            </a:r>
          </a:p>
        </p:txBody>
      </p:sp>
      <p:sp>
        <p:nvSpPr>
          <p:cNvPr id="18" name="TextBox 17"/>
          <p:cNvSpPr txBox="1"/>
          <p:nvPr/>
        </p:nvSpPr>
        <p:spPr>
          <a:xfrm>
            <a:off x="6791325" y="3629025"/>
            <a:ext cx="4886325" cy="476250"/>
          </a:xfrm>
          <a:prstGeom prst="rect">
            <a:avLst/>
          </a:prstGeom>
          <a:noFill/>
        </p:spPr>
        <p:txBody>
          <a:bodyPr wrap="square" lIns="66675" tIns="0" rIns="0" bIns="0" anchor="t">
            <a:spAutoFit/>
          </a:bodyPr>
          <a:lstStyle/>
          <a:p>
            <a:pPr algn="l"/>
            <a:r>
              <a:rPr sz="1425" b="1" i="0" u="none">
                <a:solidFill>
                  <a:srgbClr val="1E293B"/>
                </a:solidFill>
                <a:latin typeface="DM Sans"/>
              </a:rPr>
              <a:t>Digital Lending Guidelines:</a:t>
            </a:r>
            <a:r>
              <a:rPr sz="1425" b="0" i="0" u="none">
                <a:solidFill>
                  <a:srgbClr val="1E293B"/>
                </a:solidFill>
                <a:latin typeface="DM Sans"/>
              </a:rPr>
              <a:t> Regulated Entities hold strict responsibility for algorithmic transparency.</a:t>
            </a:r>
          </a:p>
        </p:txBody>
      </p:sp>
      <p:sp>
        <p:nvSpPr>
          <p:cNvPr id="19" name="TextBox 18"/>
          <p:cNvSpPr txBox="1"/>
          <p:nvPr/>
        </p:nvSpPr>
        <p:spPr>
          <a:xfrm>
            <a:off x="6724650" y="4229100"/>
            <a:ext cx="66675" cy="238125"/>
          </a:xfrm>
          <a:prstGeom prst="rect">
            <a:avLst/>
          </a:prstGeom>
          <a:noFill/>
        </p:spPr>
        <p:txBody>
          <a:bodyPr wrap="none" lIns="0" tIns="0" rIns="0" bIns="0" anchor="t">
            <a:spAutoFit/>
          </a:bodyPr>
          <a:lstStyle/>
          <a:p>
            <a:pPr algn="l"/>
            <a:r>
              <a:rPr sz="1425" b="0" i="0" u="none">
                <a:solidFill>
                  <a:srgbClr val="1E293B"/>
                </a:solidFill>
                <a:latin typeface="DM Sans"/>
              </a:rPr>
              <a:t>•</a:t>
            </a:r>
          </a:p>
        </p:txBody>
      </p:sp>
      <p:sp>
        <p:nvSpPr>
          <p:cNvPr id="20" name="TextBox 19"/>
          <p:cNvSpPr txBox="1"/>
          <p:nvPr/>
        </p:nvSpPr>
        <p:spPr>
          <a:xfrm>
            <a:off x="6791325" y="4257675"/>
            <a:ext cx="4886325" cy="476250"/>
          </a:xfrm>
          <a:prstGeom prst="rect">
            <a:avLst/>
          </a:prstGeom>
          <a:noFill/>
        </p:spPr>
        <p:txBody>
          <a:bodyPr wrap="square" lIns="66675" tIns="0" rIns="0" bIns="0" anchor="t">
            <a:spAutoFit/>
          </a:bodyPr>
          <a:lstStyle/>
          <a:p>
            <a:pPr algn="l"/>
            <a:r>
              <a:rPr sz="1425" b="1" i="0" u="none">
                <a:solidFill>
                  <a:srgbClr val="1E293B"/>
                </a:solidFill>
                <a:latin typeface="DM Sans"/>
              </a:rPr>
              <a:t>Actionable Disclosure:</a:t>
            </a:r>
            <a:r>
              <a:rPr sz="1425" b="0" i="0" u="none">
                <a:solidFill>
                  <a:srgbClr val="1E293B"/>
                </a:solidFill>
                <a:latin typeface="DM Sans"/>
              </a:rPr>
              <a:t> Borrowers require specific financial factors rather than generic risk scores.</a:t>
            </a:r>
          </a:p>
        </p:txBody>
      </p:sp>
      <p:sp>
        <p:nvSpPr>
          <p:cNvPr id="21" name="TextBox 20"/>
          <p:cNvSpPr txBox="1"/>
          <p:nvPr/>
        </p:nvSpPr>
        <p:spPr>
          <a:xfrm>
            <a:off x="1066800" y="2695575"/>
            <a:ext cx="5822156" cy="228600"/>
          </a:xfrm>
          <a:prstGeom prst="rect">
            <a:avLst/>
          </a:prstGeom>
          <a:noFill/>
        </p:spPr>
        <p:txBody>
          <a:bodyPr wrap="none" lIns="0" tIns="0" rIns="0" bIns="0" anchor="t">
            <a:spAutoFit/>
          </a:bodyPr>
          <a:lstStyle/>
          <a:p>
            <a:pPr algn="l"/>
            <a:r>
              <a:rPr sz="1350" b="1" i="0" u="none">
                <a:solidFill>
                  <a:srgbClr val="0F172A"/>
                </a:solidFill>
                <a:latin typeface="DM Sans"/>
              </a:rPr>
              <a:t>1. Alternative Credit Signals</a:t>
            </a:r>
          </a:p>
        </p:txBody>
      </p:sp>
      <p:sp>
        <p:nvSpPr>
          <p:cNvPr id="22" name="TextBox 21"/>
          <p:cNvSpPr txBox="1"/>
          <p:nvPr/>
        </p:nvSpPr>
        <p:spPr>
          <a:xfrm>
            <a:off x="1066800" y="2962275"/>
            <a:ext cx="5822156" cy="228600"/>
          </a:xfrm>
          <a:prstGeom prst="rect">
            <a:avLst/>
          </a:prstGeom>
          <a:noFill/>
        </p:spPr>
        <p:txBody>
          <a:bodyPr wrap="none" lIns="0" tIns="0" rIns="0" bIns="0" anchor="t">
            <a:spAutoFit/>
          </a:bodyPr>
          <a:lstStyle/>
          <a:p>
            <a:pPr algn="l"/>
            <a:r>
              <a:rPr sz="1350" b="0" i="0" u="none">
                <a:solidFill>
                  <a:srgbClr val="475569"/>
                </a:solidFill>
                <a:latin typeface="DM Sans"/>
              </a:rPr>
              <a:t>UPI flows, Account Aggregator, telecom data</a:t>
            </a:r>
          </a:p>
        </p:txBody>
      </p:sp>
      <p:sp>
        <p:nvSpPr>
          <p:cNvPr id="23" name="TextBox 22"/>
          <p:cNvSpPr txBox="1"/>
          <p:nvPr/>
        </p:nvSpPr>
        <p:spPr>
          <a:xfrm>
            <a:off x="1066800" y="3609975"/>
            <a:ext cx="5822156" cy="228600"/>
          </a:xfrm>
          <a:prstGeom prst="rect">
            <a:avLst/>
          </a:prstGeom>
          <a:noFill/>
        </p:spPr>
        <p:txBody>
          <a:bodyPr wrap="none" lIns="0" tIns="0" rIns="0" bIns="0" anchor="t">
            <a:spAutoFit/>
          </a:bodyPr>
          <a:lstStyle/>
          <a:p>
            <a:pPr algn="l"/>
            <a:r>
              <a:rPr sz="1350" b="1" i="0" u="none">
                <a:solidFill>
                  <a:srgbClr val="0F172A"/>
                </a:solidFill>
                <a:latin typeface="DM Sans"/>
              </a:rPr>
              <a:t>2. Non-Linear Underwriting</a:t>
            </a:r>
          </a:p>
        </p:txBody>
      </p:sp>
      <p:sp>
        <p:nvSpPr>
          <p:cNvPr id="24" name="TextBox 23"/>
          <p:cNvSpPr txBox="1"/>
          <p:nvPr/>
        </p:nvSpPr>
        <p:spPr>
          <a:xfrm>
            <a:off x="1066800" y="3876675"/>
            <a:ext cx="5822156" cy="228600"/>
          </a:xfrm>
          <a:prstGeom prst="rect">
            <a:avLst/>
          </a:prstGeom>
          <a:noFill/>
        </p:spPr>
        <p:txBody>
          <a:bodyPr wrap="none" lIns="0" tIns="0" rIns="0" bIns="0" anchor="t">
            <a:spAutoFit/>
          </a:bodyPr>
          <a:lstStyle/>
          <a:p>
            <a:pPr algn="l"/>
            <a:r>
              <a:rPr sz="1350" b="0" i="0" u="none">
                <a:solidFill>
                  <a:srgbClr val="475569"/>
                </a:solidFill>
                <a:latin typeface="DM Sans"/>
              </a:rPr>
              <a:t>XGBoost and LightGBM replace linear scorecards</a:t>
            </a:r>
          </a:p>
        </p:txBody>
      </p:sp>
      <p:sp>
        <p:nvSpPr>
          <p:cNvPr id="25" name="TextBox 24"/>
          <p:cNvSpPr txBox="1"/>
          <p:nvPr/>
        </p:nvSpPr>
        <p:spPr>
          <a:xfrm>
            <a:off x="1066800" y="4524375"/>
            <a:ext cx="5822156" cy="228600"/>
          </a:xfrm>
          <a:prstGeom prst="rect">
            <a:avLst/>
          </a:prstGeom>
          <a:noFill/>
        </p:spPr>
        <p:txBody>
          <a:bodyPr wrap="none" lIns="0" tIns="0" rIns="0" bIns="0" anchor="t">
            <a:spAutoFit/>
          </a:bodyPr>
          <a:lstStyle/>
          <a:p>
            <a:pPr algn="l"/>
            <a:r>
              <a:rPr sz="1350" b="1" i="0" u="none">
                <a:solidFill>
                  <a:srgbClr val="B45309"/>
                </a:solidFill>
                <a:latin typeface="DM Sans"/>
              </a:rPr>
              <a:t>3. The Black-Box Tension</a:t>
            </a:r>
          </a:p>
        </p:txBody>
      </p:sp>
      <p:sp>
        <p:nvSpPr>
          <p:cNvPr id="26" name="TextBox 25"/>
          <p:cNvSpPr txBox="1"/>
          <p:nvPr/>
        </p:nvSpPr>
        <p:spPr>
          <a:xfrm>
            <a:off x="1066800" y="4791075"/>
            <a:ext cx="5822156" cy="228600"/>
          </a:xfrm>
          <a:prstGeom prst="rect">
            <a:avLst/>
          </a:prstGeom>
          <a:noFill/>
        </p:spPr>
        <p:txBody>
          <a:bodyPr wrap="none" lIns="0" tIns="0" rIns="0" bIns="0" anchor="t">
            <a:spAutoFit/>
          </a:bodyPr>
          <a:lstStyle/>
          <a:p>
            <a:pPr algn="l"/>
            <a:r>
              <a:rPr sz="1350" b="0" i="0" u="none">
                <a:solidFill>
                  <a:srgbClr val="475569"/>
                </a:solidFill>
                <a:latin typeface="DM Sans"/>
              </a:rPr>
              <a:t>High predictive power obscures rejection logic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443412"/>
            <a:ext cx="10972800" cy="628650"/>
          </a:xfrm>
          <a:prstGeom prst="roundRect">
            <a:avLst>
              <a:gd name="adj" fmla="val 15151"/>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1436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2309812"/>
            <a:ext cx="3479750" cy="1752600"/>
          </a:xfrm>
          <a:prstGeom prst="roundRect">
            <a:avLst>
              <a:gd name="adj" fmla="val 652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56050" y="2309812"/>
            <a:ext cx="3479750" cy="1752600"/>
          </a:xfrm>
          <a:prstGeom prst="roundRect">
            <a:avLst>
              <a:gd name="adj" fmla="val 652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02500" y="2195512"/>
            <a:ext cx="3479750" cy="1981200"/>
          </a:xfrm>
          <a:prstGeom prst="roundRect">
            <a:avLst>
              <a:gd name="adj" fmla="val 576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D97706"/>
                </a:solidFill>
                <a:latin typeface="IBM Plex Mono"/>
              </a:rPr>
              <a:t>02 • PROBLEM FORMULATION</a:t>
            </a:r>
          </a:p>
        </p:txBody>
      </p:sp>
      <p:sp>
        <p:nvSpPr>
          <p:cNvPr id="9" name="TextBox 8"/>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The Core Research Problem</a:t>
            </a:r>
          </a:p>
        </p:txBody>
      </p:sp>
      <p:sp>
        <p:nvSpPr>
          <p:cNvPr id="10" name="TextBox 9"/>
          <p:cNvSpPr txBox="1"/>
          <p:nvPr/>
        </p:nvSpPr>
        <p:spPr>
          <a:xfrm>
            <a:off x="609600" y="6267450"/>
            <a:ext cx="5691187" cy="171450"/>
          </a:xfrm>
          <a:prstGeom prst="rect">
            <a:avLst/>
          </a:prstGeom>
          <a:noFill/>
        </p:spPr>
        <p:txBody>
          <a:bodyPr wrap="none" lIns="0" tIns="0" rIns="0" bIns="0" anchor="t">
            <a:spAutoFit/>
          </a:bodyPr>
          <a:lstStyle/>
          <a:p>
            <a:pPr algn="l"/>
            <a:r>
              <a:rPr sz="1050" b="0" i="0" u="none">
                <a:solidFill>
                  <a:srgbClr val="475569"/>
                </a:solidFill>
                <a:latin typeface="DM Sans"/>
              </a:rPr>
              <a:t>Citations: Lundberg &amp; Lee (2017); Geng, Liu, Li, &amp; Wang (2026); RBI (2022).</a:t>
            </a:r>
          </a:p>
        </p:txBody>
      </p:sp>
      <p:sp>
        <p:nvSpPr>
          <p:cNvPr id="11" name="TextBox 10"/>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03</a:t>
            </a:r>
          </a:p>
        </p:txBody>
      </p:sp>
      <p:sp>
        <p:nvSpPr>
          <p:cNvPr id="12" name="TextBox 11"/>
          <p:cNvSpPr txBox="1"/>
          <p:nvPr/>
        </p:nvSpPr>
        <p:spPr>
          <a:xfrm>
            <a:off x="876300" y="4633912"/>
            <a:ext cx="11315700" cy="247650"/>
          </a:xfrm>
          <a:prstGeom prst="rect">
            <a:avLst/>
          </a:prstGeom>
          <a:noFill/>
        </p:spPr>
        <p:txBody>
          <a:bodyPr wrap="none" lIns="0" tIns="0" rIns="0" bIns="0" anchor="t">
            <a:spAutoFit/>
          </a:bodyPr>
          <a:lstStyle/>
          <a:p>
            <a:pPr algn="l"/>
            <a:r>
              <a:rPr sz="1500" b="1" i="0" u="none">
                <a:solidFill>
                  <a:srgbClr val="F8FAFC"/>
                </a:solidFill>
                <a:latin typeface="DM Sans"/>
              </a:rPr>
              <a:t>The Narrative Gap: How to automate borrower-facing notices grounded strictly in verified model factors?</a:t>
            </a:r>
          </a:p>
        </p:txBody>
      </p:sp>
      <p:sp>
        <p:nvSpPr>
          <p:cNvPr id="13" name="TextBox 12"/>
          <p:cNvSpPr txBox="1"/>
          <p:nvPr/>
        </p:nvSpPr>
        <p:spPr>
          <a:xfrm>
            <a:off x="866775" y="2566987"/>
            <a:ext cx="3060650" cy="219075"/>
          </a:xfrm>
          <a:prstGeom prst="rect">
            <a:avLst/>
          </a:prstGeom>
          <a:noFill/>
        </p:spPr>
        <p:txBody>
          <a:bodyPr wrap="square" lIns="0" tIns="0" rIns="0" bIns="0" anchor="t">
            <a:spAutoFit/>
          </a:bodyPr>
          <a:lstStyle/>
          <a:p>
            <a:pPr algn="l"/>
            <a:r>
              <a:rPr sz="1050" b="1" i="0" u="none">
                <a:solidFill>
                  <a:srgbClr val="0D9488"/>
                </a:solidFill>
                <a:latin typeface="IBM Plex Mono"/>
              </a:rPr>
              <a:t>MATHEMATICAL OUTPUT</a:t>
            </a:r>
          </a:p>
        </p:txBody>
      </p:sp>
      <p:sp>
        <p:nvSpPr>
          <p:cNvPr id="14" name="TextBox 13"/>
          <p:cNvSpPr txBox="1"/>
          <p:nvPr/>
        </p:nvSpPr>
        <p:spPr>
          <a:xfrm>
            <a:off x="866775" y="2862262"/>
            <a:ext cx="3892088" cy="276225"/>
          </a:xfrm>
          <a:prstGeom prst="rect">
            <a:avLst/>
          </a:prstGeom>
          <a:noFill/>
        </p:spPr>
        <p:txBody>
          <a:bodyPr wrap="none" lIns="0" tIns="0" rIns="0" bIns="0" anchor="t">
            <a:spAutoFit/>
          </a:bodyPr>
          <a:lstStyle/>
          <a:p>
            <a:pPr algn="l"/>
            <a:r>
              <a:rPr sz="1650" b="1" i="0" u="none">
                <a:solidFill>
                  <a:srgbClr val="0F172A"/>
                </a:solidFill>
                <a:latin typeface="DM Sans"/>
              </a:rPr>
              <a:t>Raw SHAP Attributions</a:t>
            </a:r>
          </a:p>
        </p:txBody>
      </p:sp>
      <p:sp>
        <p:nvSpPr>
          <p:cNvPr id="15" name="TextBox 14"/>
          <p:cNvSpPr txBox="1"/>
          <p:nvPr/>
        </p:nvSpPr>
        <p:spPr>
          <a:xfrm>
            <a:off x="866775" y="3252787"/>
            <a:ext cx="3706750" cy="228600"/>
          </a:xfrm>
          <a:prstGeom prst="rect">
            <a:avLst/>
          </a:prstGeom>
          <a:noFill/>
        </p:spPr>
        <p:txBody>
          <a:bodyPr wrap="none" lIns="0" tIns="0" rIns="0" bIns="0" anchor="t">
            <a:spAutoFit/>
          </a:bodyPr>
          <a:lstStyle/>
          <a:p>
            <a:pPr algn="l"/>
            <a:r>
              <a:rPr sz="1350" b="0" i="0" u="none">
                <a:solidFill>
                  <a:srgbClr val="334155"/>
                </a:solidFill>
                <a:latin typeface="DM Sans"/>
              </a:rPr>
              <a:t>Game-theoretic feature weights</a:t>
            </a:r>
          </a:p>
        </p:txBody>
      </p:sp>
      <p:sp>
        <p:nvSpPr>
          <p:cNvPr id="16" name="TextBox 15"/>
          <p:cNvSpPr txBox="1"/>
          <p:nvPr/>
        </p:nvSpPr>
        <p:spPr>
          <a:xfrm>
            <a:off x="866775" y="3576637"/>
            <a:ext cx="3706750" cy="228600"/>
          </a:xfrm>
          <a:prstGeom prst="rect">
            <a:avLst/>
          </a:prstGeom>
          <a:noFill/>
        </p:spPr>
        <p:txBody>
          <a:bodyPr wrap="none" lIns="0" tIns="0" rIns="0" bIns="0" anchor="t">
            <a:spAutoFit/>
          </a:bodyPr>
          <a:lstStyle/>
          <a:p>
            <a:pPr algn="l"/>
            <a:r>
              <a:rPr sz="1350" b="1" i="0" u="none">
                <a:solidFill>
                  <a:srgbClr val="B91C1C"/>
                </a:solidFill>
                <a:latin typeface="DM Sans"/>
              </a:rPr>
              <a:t>Unreadable for retail borrowers</a:t>
            </a:r>
          </a:p>
        </p:txBody>
      </p:sp>
      <p:sp>
        <p:nvSpPr>
          <p:cNvPr id="17" name="TextBox 16"/>
          <p:cNvSpPr txBox="1"/>
          <p:nvPr/>
        </p:nvSpPr>
        <p:spPr>
          <a:xfrm>
            <a:off x="4613225" y="2566987"/>
            <a:ext cx="3060650" cy="219075"/>
          </a:xfrm>
          <a:prstGeom prst="rect">
            <a:avLst/>
          </a:prstGeom>
          <a:noFill/>
        </p:spPr>
        <p:txBody>
          <a:bodyPr wrap="square" lIns="0" tIns="0" rIns="0" bIns="0" anchor="t">
            <a:spAutoFit/>
          </a:bodyPr>
          <a:lstStyle/>
          <a:p>
            <a:pPr algn="l"/>
            <a:r>
              <a:rPr sz="1050" b="1" i="0" u="none">
                <a:solidFill>
                  <a:srgbClr val="D97706"/>
                </a:solidFill>
                <a:latin typeface="IBM Plex Mono"/>
              </a:rPr>
              <a:t>OPERATIONAL BOTTLENECK</a:t>
            </a:r>
          </a:p>
        </p:txBody>
      </p:sp>
      <p:sp>
        <p:nvSpPr>
          <p:cNvPr id="18" name="TextBox 17"/>
          <p:cNvSpPr txBox="1"/>
          <p:nvPr/>
        </p:nvSpPr>
        <p:spPr>
          <a:xfrm>
            <a:off x="4613225" y="2862262"/>
            <a:ext cx="3892088" cy="276225"/>
          </a:xfrm>
          <a:prstGeom prst="rect">
            <a:avLst/>
          </a:prstGeom>
          <a:noFill/>
        </p:spPr>
        <p:txBody>
          <a:bodyPr wrap="none" lIns="0" tIns="0" rIns="0" bIns="0" anchor="t">
            <a:spAutoFit/>
          </a:bodyPr>
          <a:lstStyle/>
          <a:p>
            <a:pPr algn="l"/>
            <a:r>
              <a:rPr sz="1650" b="1" i="0" u="none">
                <a:solidFill>
                  <a:srgbClr val="0F172A"/>
                </a:solidFill>
                <a:latin typeface="DM Sans"/>
              </a:rPr>
              <a:t>Manual Compliance Review</a:t>
            </a:r>
          </a:p>
        </p:txBody>
      </p:sp>
      <p:sp>
        <p:nvSpPr>
          <p:cNvPr id="19" name="TextBox 18"/>
          <p:cNvSpPr txBox="1"/>
          <p:nvPr/>
        </p:nvSpPr>
        <p:spPr>
          <a:xfrm>
            <a:off x="4613225" y="3252787"/>
            <a:ext cx="3706750" cy="228600"/>
          </a:xfrm>
          <a:prstGeom prst="rect">
            <a:avLst/>
          </a:prstGeom>
          <a:noFill/>
        </p:spPr>
        <p:txBody>
          <a:bodyPr wrap="none" lIns="0" tIns="0" rIns="0" bIns="0" anchor="t">
            <a:spAutoFit/>
          </a:bodyPr>
          <a:lstStyle/>
          <a:p>
            <a:pPr algn="l"/>
            <a:r>
              <a:rPr sz="1350" b="0" i="0" u="none">
                <a:solidFill>
                  <a:srgbClr val="334155"/>
                </a:solidFill>
                <a:latin typeface="DM Sans"/>
              </a:rPr>
              <a:t>Human officers interpret charts</a:t>
            </a:r>
          </a:p>
        </p:txBody>
      </p:sp>
      <p:sp>
        <p:nvSpPr>
          <p:cNvPr id="20" name="TextBox 19"/>
          <p:cNvSpPr txBox="1"/>
          <p:nvPr/>
        </p:nvSpPr>
        <p:spPr>
          <a:xfrm>
            <a:off x="4613225" y="3576637"/>
            <a:ext cx="3706750" cy="228600"/>
          </a:xfrm>
          <a:prstGeom prst="rect">
            <a:avLst/>
          </a:prstGeom>
          <a:noFill/>
        </p:spPr>
        <p:txBody>
          <a:bodyPr wrap="none" lIns="0" tIns="0" rIns="0" bIns="0" anchor="t">
            <a:spAutoFit/>
          </a:bodyPr>
          <a:lstStyle/>
          <a:p>
            <a:pPr algn="l"/>
            <a:r>
              <a:rPr sz="1350" b="1" i="0" u="none">
                <a:solidFill>
                  <a:srgbClr val="B91C1C"/>
                </a:solidFill>
                <a:latin typeface="DM Sans"/>
              </a:rPr>
              <a:t>Slows high-volume digital lending</a:t>
            </a:r>
          </a:p>
        </p:txBody>
      </p:sp>
      <p:sp>
        <p:nvSpPr>
          <p:cNvPr id="21" name="TextBox 20"/>
          <p:cNvSpPr txBox="1"/>
          <p:nvPr/>
        </p:nvSpPr>
        <p:spPr>
          <a:xfrm>
            <a:off x="8359675" y="2452687"/>
            <a:ext cx="3060650" cy="219075"/>
          </a:xfrm>
          <a:prstGeom prst="rect">
            <a:avLst/>
          </a:prstGeom>
          <a:noFill/>
        </p:spPr>
        <p:txBody>
          <a:bodyPr wrap="square" lIns="0" tIns="0" rIns="0" bIns="0" anchor="t">
            <a:spAutoFit/>
          </a:bodyPr>
          <a:lstStyle/>
          <a:p>
            <a:pPr algn="l"/>
            <a:r>
              <a:rPr sz="1050" b="1" i="0" u="none">
                <a:solidFill>
                  <a:srgbClr val="1E3A8A"/>
                </a:solidFill>
                <a:latin typeface="IBM Plex Mono"/>
              </a:rPr>
              <a:t>GENERATIVE RISK</a:t>
            </a:r>
          </a:p>
        </p:txBody>
      </p:sp>
      <p:sp>
        <p:nvSpPr>
          <p:cNvPr id="22" name="TextBox 21"/>
          <p:cNvSpPr txBox="1"/>
          <p:nvPr/>
        </p:nvSpPr>
        <p:spPr>
          <a:xfrm>
            <a:off x="8359675" y="2747962"/>
            <a:ext cx="3832324" cy="276225"/>
          </a:xfrm>
          <a:prstGeom prst="rect">
            <a:avLst/>
          </a:prstGeom>
          <a:noFill/>
        </p:spPr>
        <p:txBody>
          <a:bodyPr wrap="none" lIns="0" tIns="0" rIns="0" bIns="0" anchor="t">
            <a:spAutoFit/>
          </a:bodyPr>
          <a:lstStyle/>
          <a:p>
            <a:pPr algn="l"/>
            <a:r>
              <a:rPr sz="1650" b="1" i="0" u="none">
                <a:solidFill>
                  <a:srgbClr val="0F172A"/>
                </a:solidFill>
                <a:latin typeface="DM Sans"/>
              </a:rPr>
              <a:t>Unconstrained LLM</a:t>
            </a:r>
          </a:p>
        </p:txBody>
      </p:sp>
      <p:sp>
        <p:nvSpPr>
          <p:cNvPr id="23" name="TextBox 22"/>
          <p:cNvSpPr txBox="1"/>
          <p:nvPr/>
        </p:nvSpPr>
        <p:spPr>
          <a:xfrm>
            <a:off x="8359675" y="3138487"/>
            <a:ext cx="3706750" cy="228600"/>
          </a:xfrm>
          <a:prstGeom prst="rect">
            <a:avLst/>
          </a:prstGeom>
          <a:noFill/>
        </p:spPr>
        <p:txBody>
          <a:bodyPr wrap="none" lIns="0" tIns="0" rIns="0" bIns="0" anchor="t">
            <a:spAutoFit/>
          </a:bodyPr>
          <a:lstStyle/>
          <a:p>
            <a:pPr algn="l"/>
            <a:r>
              <a:rPr sz="1350" b="0" i="0" u="none">
                <a:solidFill>
                  <a:srgbClr val="334155"/>
                </a:solidFill>
                <a:latin typeface="DM Sans"/>
              </a:rPr>
              <a:t>Autonomous risk reasoning</a:t>
            </a:r>
          </a:p>
        </p:txBody>
      </p:sp>
      <p:sp>
        <p:nvSpPr>
          <p:cNvPr id="24" name="TextBox 23"/>
          <p:cNvSpPr txBox="1"/>
          <p:nvPr/>
        </p:nvSpPr>
        <p:spPr>
          <a:xfrm>
            <a:off x="8359675" y="3462337"/>
            <a:ext cx="3060650" cy="457200"/>
          </a:xfrm>
          <a:prstGeom prst="rect">
            <a:avLst/>
          </a:prstGeom>
          <a:noFill/>
        </p:spPr>
        <p:txBody>
          <a:bodyPr wrap="square" lIns="0" tIns="0" rIns="0" bIns="0" anchor="t">
            <a:spAutoFit/>
          </a:bodyPr>
          <a:lstStyle/>
          <a:p>
            <a:pPr algn="l"/>
            <a:r>
              <a:rPr sz="1350" b="1" i="0" u="none">
                <a:solidFill>
                  <a:srgbClr val="B91C1C"/>
                </a:solidFill>
                <a:latin typeface="DM Sans"/>
              </a:rPr>
              <a:t>Hallucinates unverified rejection grounds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205037"/>
            <a:ext cx="5372100" cy="1314450"/>
          </a:xfrm>
          <a:prstGeom prst="roundRect">
            <a:avLst>
              <a:gd name="adj" fmla="val 86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10300" y="2205037"/>
            <a:ext cx="5372100" cy="1314450"/>
          </a:xfrm>
          <a:prstGeom prst="roundRect">
            <a:avLst>
              <a:gd name="adj" fmla="val 86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3748087"/>
            <a:ext cx="5372100" cy="1314450"/>
          </a:xfrm>
          <a:prstGeom prst="roundRect">
            <a:avLst>
              <a:gd name="adj" fmla="val 86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10300" y="3748087"/>
            <a:ext cx="5372100" cy="1314450"/>
          </a:xfrm>
          <a:prstGeom prst="roundRect">
            <a:avLst>
              <a:gd name="adj" fmla="val 86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66775" y="2500312"/>
            <a:ext cx="333375" cy="266700"/>
          </a:xfrm>
          <a:prstGeom prst="rect">
            <a:avLst/>
          </a:prstGeom>
        </p:spPr>
      </p:pic>
      <p:pic>
        <p:nvPicPr>
          <p:cNvPr id="9" name="Picture 8" descr="image.png"/>
          <p:cNvPicPr>
            <a:picLocks noChangeAspect="1"/>
          </p:cNvPicPr>
          <p:nvPr/>
        </p:nvPicPr>
        <p:blipFill>
          <a:blip r:embed="rId4"/>
          <a:stretch>
            <a:fillRect/>
          </a:stretch>
        </p:blipFill>
        <p:spPr>
          <a:xfrm>
            <a:off x="6467475" y="2500312"/>
            <a:ext cx="333375" cy="266700"/>
          </a:xfrm>
          <a:prstGeom prst="rect">
            <a:avLst/>
          </a:prstGeom>
        </p:spPr>
      </p:pic>
      <p:pic>
        <p:nvPicPr>
          <p:cNvPr id="10" name="Picture 9" descr="image.png"/>
          <p:cNvPicPr>
            <a:picLocks noChangeAspect="1"/>
          </p:cNvPicPr>
          <p:nvPr/>
        </p:nvPicPr>
        <p:blipFill>
          <a:blip r:embed="rId5"/>
          <a:stretch>
            <a:fillRect/>
          </a:stretch>
        </p:blipFill>
        <p:spPr>
          <a:xfrm>
            <a:off x="866775" y="4043362"/>
            <a:ext cx="266700" cy="266700"/>
          </a:xfrm>
          <a:prstGeom prst="rect">
            <a:avLst/>
          </a:prstGeom>
        </p:spPr>
      </p:pic>
      <p:pic>
        <p:nvPicPr>
          <p:cNvPr id="11" name="Picture 10" descr="image.png"/>
          <p:cNvPicPr>
            <a:picLocks noChangeAspect="1"/>
          </p:cNvPicPr>
          <p:nvPr/>
        </p:nvPicPr>
        <p:blipFill>
          <a:blip r:embed="rId6"/>
          <a:stretch>
            <a:fillRect/>
          </a:stretch>
        </p:blipFill>
        <p:spPr>
          <a:xfrm>
            <a:off x="6467475" y="4043362"/>
            <a:ext cx="266700" cy="266700"/>
          </a:xfrm>
          <a:prstGeom prst="rect">
            <a:avLst/>
          </a:prstGeom>
        </p:spPr>
      </p:pic>
      <p:sp>
        <p:nvSpPr>
          <p:cNvPr id="12" name="TextBox 11"/>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03 • RATIONALE</a:t>
            </a:r>
          </a:p>
        </p:txBody>
      </p:sp>
      <p:sp>
        <p:nvSpPr>
          <p:cNvPr id="13" name="TextBox 12"/>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Need &amp; Study Motivation</a:t>
            </a:r>
          </a:p>
        </p:txBody>
      </p:sp>
      <p:sp>
        <p:nvSpPr>
          <p:cNvPr id="14" name="TextBox 13"/>
          <p:cNvSpPr txBox="1"/>
          <p:nvPr/>
        </p:nvSpPr>
        <p:spPr>
          <a:xfrm>
            <a:off x="609600" y="6267450"/>
            <a:ext cx="6727031" cy="171450"/>
          </a:xfrm>
          <a:prstGeom prst="rect">
            <a:avLst/>
          </a:prstGeom>
          <a:noFill/>
        </p:spPr>
        <p:txBody>
          <a:bodyPr wrap="none" lIns="0" tIns="0" rIns="0" bIns="0" anchor="t">
            <a:spAutoFit/>
          </a:bodyPr>
          <a:lstStyle/>
          <a:p>
            <a:pPr algn="l"/>
            <a:r>
              <a:rPr sz="1050" b="0" i="0" u="none">
                <a:solidFill>
                  <a:srgbClr val="475569"/>
                </a:solidFill>
                <a:latin typeface="DM Sans"/>
              </a:rPr>
              <a:t>Citations: Reserve Bank of India (2006, 2022); Geng et al. (2026); Aljunaid et al. (2025).</a:t>
            </a:r>
          </a:p>
        </p:txBody>
      </p:sp>
      <p:sp>
        <p:nvSpPr>
          <p:cNvPr id="15" name="TextBox 14"/>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04</a:t>
            </a:r>
          </a:p>
        </p:txBody>
      </p:sp>
      <p:sp>
        <p:nvSpPr>
          <p:cNvPr id="16" name="TextBox 15"/>
          <p:cNvSpPr txBox="1"/>
          <p:nvPr/>
        </p:nvSpPr>
        <p:spPr>
          <a:xfrm>
            <a:off x="1390650" y="2462212"/>
            <a:ext cx="5688210" cy="266700"/>
          </a:xfrm>
          <a:prstGeom prst="rect">
            <a:avLst/>
          </a:prstGeom>
          <a:noFill/>
        </p:spPr>
        <p:txBody>
          <a:bodyPr wrap="none" lIns="0" tIns="0" rIns="0" bIns="0" anchor="t">
            <a:spAutoFit/>
          </a:bodyPr>
          <a:lstStyle/>
          <a:p>
            <a:pPr algn="l"/>
            <a:r>
              <a:rPr sz="1575" b="1" i="0" u="none">
                <a:solidFill>
                  <a:srgbClr val="0F172A"/>
                </a:solidFill>
                <a:latin typeface="DM Sans"/>
              </a:rPr>
              <a:t>1. Fair Lending Mandate</a:t>
            </a:r>
          </a:p>
        </p:txBody>
      </p:sp>
      <p:sp>
        <p:nvSpPr>
          <p:cNvPr id="17" name="TextBox 16"/>
          <p:cNvSpPr txBox="1"/>
          <p:nvPr/>
        </p:nvSpPr>
        <p:spPr>
          <a:xfrm>
            <a:off x="1390650" y="2805112"/>
            <a:ext cx="4429125" cy="457200"/>
          </a:xfrm>
          <a:prstGeom prst="rect">
            <a:avLst/>
          </a:prstGeom>
          <a:noFill/>
        </p:spPr>
        <p:txBody>
          <a:bodyPr wrap="square" lIns="0" tIns="0" rIns="0" bIns="0" anchor="t">
            <a:spAutoFit/>
          </a:bodyPr>
          <a:lstStyle/>
          <a:p>
            <a:pPr algn="l"/>
            <a:r>
              <a:rPr sz="1350" b="0" i="0" u="none">
                <a:solidFill>
                  <a:srgbClr val="334155"/>
                </a:solidFill>
                <a:latin typeface="DM Sans"/>
              </a:rPr>
              <a:t>Consistent written explanations for rejected retail borrowers.</a:t>
            </a:r>
          </a:p>
        </p:txBody>
      </p:sp>
      <p:sp>
        <p:nvSpPr>
          <p:cNvPr id="18" name="TextBox 17"/>
          <p:cNvSpPr txBox="1"/>
          <p:nvPr/>
        </p:nvSpPr>
        <p:spPr>
          <a:xfrm>
            <a:off x="6991350" y="2462212"/>
            <a:ext cx="5200650" cy="266700"/>
          </a:xfrm>
          <a:prstGeom prst="rect">
            <a:avLst/>
          </a:prstGeom>
          <a:noFill/>
        </p:spPr>
        <p:txBody>
          <a:bodyPr wrap="none" lIns="0" tIns="0" rIns="0" bIns="0" anchor="t">
            <a:spAutoFit/>
          </a:bodyPr>
          <a:lstStyle/>
          <a:p>
            <a:pPr algn="l"/>
            <a:r>
              <a:rPr sz="1575" b="1" i="0" u="none">
                <a:solidFill>
                  <a:srgbClr val="0F172A"/>
                </a:solidFill>
                <a:latin typeface="DM Sans"/>
              </a:rPr>
              <a:t>2. Explainability-to-Usability Bridge</a:t>
            </a:r>
          </a:p>
        </p:txBody>
      </p:sp>
      <p:sp>
        <p:nvSpPr>
          <p:cNvPr id="19" name="TextBox 18"/>
          <p:cNvSpPr txBox="1"/>
          <p:nvPr/>
        </p:nvSpPr>
        <p:spPr>
          <a:xfrm>
            <a:off x="6991350" y="2805112"/>
            <a:ext cx="4429125" cy="457200"/>
          </a:xfrm>
          <a:prstGeom prst="rect">
            <a:avLst/>
          </a:prstGeom>
          <a:noFill/>
        </p:spPr>
        <p:txBody>
          <a:bodyPr wrap="square" lIns="0" tIns="0" rIns="0" bIns="0" anchor="t">
            <a:spAutoFit/>
          </a:bodyPr>
          <a:lstStyle/>
          <a:p>
            <a:pPr algn="l"/>
            <a:r>
              <a:rPr sz="1350" b="0" i="0" u="none">
                <a:solidFill>
                  <a:srgbClr val="334155"/>
                </a:solidFill>
                <a:latin typeface="DM Sans"/>
              </a:rPr>
              <a:t>Convert numeric SHAP arrays into readable English and Hindi text.</a:t>
            </a:r>
          </a:p>
        </p:txBody>
      </p:sp>
      <p:sp>
        <p:nvSpPr>
          <p:cNvPr id="20" name="TextBox 19"/>
          <p:cNvSpPr txBox="1"/>
          <p:nvPr/>
        </p:nvSpPr>
        <p:spPr>
          <a:xfrm>
            <a:off x="1323975" y="4005262"/>
            <a:ext cx="5775721" cy="266700"/>
          </a:xfrm>
          <a:prstGeom prst="rect">
            <a:avLst/>
          </a:prstGeom>
          <a:noFill/>
        </p:spPr>
        <p:txBody>
          <a:bodyPr wrap="none" lIns="0" tIns="0" rIns="0" bIns="0" anchor="t">
            <a:spAutoFit/>
          </a:bodyPr>
          <a:lstStyle/>
          <a:p>
            <a:pPr algn="l"/>
            <a:r>
              <a:rPr sz="1575" b="1" i="0" u="none">
                <a:solidFill>
                  <a:srgbClr val="0F172A"/>
                </a:solidFill>
                <a:latin typeface="DM Sans"/>
              </a:rPr>
              <a:t>3. Hallucination Control</a:t>
            </a:r>
          </a:p>
        </p:txBody>
      </p:sp>
      <p:sp>
        <p:nvSpPr>
          <p:cNvPr id="21" name="TextBox 20"/>
          <p:cNvSpPr txBox="1"/>
          <p:nvPr/>
        </p:nvSpPr>
        <p:spPr>
          <a:xfrm>
            <a:off x="1323975" y="4348162"/>
            <a:ext cx="4495800" cy="457200"/>
          </a:xfrm>
          <a:prstGeom prst="rect">
            <a:avLst/>
          </a:prstGeom>
          <a:noFill/>
        </p:spPr>
        <p:txBody>
          <a:bodyPr wrap="square" lIns="0" tIns="0" rIns="0" bIns="0" anchor="t">
            <a:spAutoFit/>
          </a:bodyPr>
          <a:lstStyle/>
          <a:p>
            <a:pPr algn="l"/>
            <a:r>
              <a:rPr sz="1350" b="0" i="0" u="none">
                <a:solidFill>
                  <a:srgbClr val="334155"/>
                </a:solidFill>
                <a:latin typeface="DM Sans"/>
              </a:rPr>
              <a:t>Restrict LLM strictly to verified top negative model factors.</a:t>
            </a:r>
          </a:p>
        </p:txBody>
      </p:sp>
      <p:sp>
        <p:nvSpPr>
          <p:cNvPr id="22" name="TextBox 21"/>
          <p:cNvSpPr txBox="1"/>
          <p:nvPr/>
        </p:nvSpPr>
        <p:spPr>
          <a:xfrm>
            <a:off x="6924675" y="4005262"/>
            <a:ext cx="5267325" cy="266700"/>
          </a:xfrm>
          <a:prstGeom prst="rect">
            <a:avLst/>
          </a:prstGeom>
          <a:noFill/>
        </p:spPr>
        <p:txBody>
          <a:bodyPr wrap="none" lIns="0" tIns="0" rIns="0" bIns="0" anchor="t">
            <a:spAutoFit/>
          </a:bodyPr>
          <a:lstStyle/>
          <a:p>
            <a:pPr algn="l"/>
            <a:r>
              <a:rPr sz="1575" b="1" i="0" u="none">
                <a:solidFill>
                  <a:srgbClr val="0F172A"/>
                </a:solidFill>
                <a:latin typeface="DM Sans"/>
              </a:rPr>
              <a:t>4. Local Data Sovereignty</a:t>
            </a:r>
          </a:p>
        </p:txBody>
      </p:sp>
      <p:sp>
        <p:nvSpPr>
          <p:cNvPr id="23" name="TextBox 22"/>
          <p:cNvSpPr txBox="1"/>
          <p:nvPr/>
        </p:nvSpPr>
        <p:spPr>
          <a:xfrm>
            <a:off x="6924675" y="4348162"/>
            <a:ext cx="4495800" cy="457200"/>
          </a:xfrm>
          <a:prstGeom prst="rect">
            <a:avLst/>
          </a:prstGeom>
          <a:noFill/>
        </p:spPr>
        <p:txBody>
          <a:bodyPr wrap="square" lIns="0" tIns="0" rIns="0" bIns="0" anchor="t">
            <a:spAutoFit/>
          </a:bodyPr>
          <a:lstStyle/>
          <a:p>
            <a:pPr algn="l"/>
            <a:r>
              <a:rPr sz="1350" b="0" i="0" u="none">
                <a:solidFill>
                  <a:srgbClr val="334155"/>
                </a:solidFill>
                <a:latin typeface="DM Sans"/>
              </a:rPr>
              <a:t>On-premise open-weight inference avoids external cloud exposure.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1436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033587"/>
            <a:ext cx="10972800" cy="32004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09600" y="2033587"/>
          <a:ext cx="10963273" cy="3200400"/>
        </p:xfrm>
        <a:graphic>
          <a:graphicData uri="http://schemas.openxmlformats.org/drawingml/2006/table">
            <a:tbl>
              <a:tblPr/>
              <a:tblGrid>
                <a:gridCol w="2411908">
                  <a:extLst>
                    <a:ext uri="{9D8B030D-6E8A-4147-A177-3AD203B41FA5}">
                      <a16:colId xmlns:a16="http://schemas.microsoft.com/office/drawing/2014/main" val="20000"/>
                    </a:ext>
                  </a:extLst>
                </a:gridCol>
                <a:gridCol w="3069580">
                  <a:extLst>
                    <a:ext uri="{9D8B030D-6E8A-4147-A177-3AD203B41FA5}">
                      <a16:colId xmlns:a16="http://schemas.microsoft.com/office/drawing/2014/main" val="20001"/>
                    </a:ext>
                  </a:extLst>
                </a:gridCol>
                <a:gridCol w="2631132">
                  <a:extLst>
                    <a:ext uri="{9D8B030D-6E8A-4147-A177-3AD203B41FA5}">
                      <a16:colId xmlns:a16="http://schemas.microsoft.com/office/drawing/2014/main" val="20002"/>
                    </a:ext>
                  </a:extLst>
                </a:gridCol>
                <a:gridCol w="2850653">
                  <a:extLst>
                    <a:ext uri="{9D8B030D-6E8A-4147-A177-3AD203B41FA5}">
                      <a16:colId xmlns:a16="http://schemas.microsoft.com/office/drawing/2014/main" val="20003"/>
                    </a:ext>
                  </a:extLst>
                </a:gridCol>
              </a:tblGrid>
              <a:tr h="800100">
                <a:tc>
                  <a:txBody>
                    <a:bodyPr/>
                    <a:lstStyle/>
                    <a:p>
                      <a:pPr algn="l"/>
                      <a:r>
                        <a:rPr sz="1350" b="1" i="0" u="none">
                          <a:solidFill>
                            <a:srgbClr val="F8FAFC"/>
                          </a:solidFill>
                          <a:latin typeface="DM Sans"/>
                        </a:rPr>
                        <a:t>Key Study</a:t>
                      </a:r>
                    </a:p>
                  </a:txBody>
                  <a:tcPr marL="63500" marR="63500" marT="25400" marB="25400" anchor="ctr">
                    <a:lnL>
                      <a:noFill/>
                    </a:lnL>
                    <a:lnR>
                      <a:noFill/>
                    </a:lnR>
                    <a:lnT>
                      <a:noFill/>
                    </a:lnT>
                    <a:lnB>
                      <a:noFill/>
                    </a:lnB>
                    <a:solidFill>
                      <a:srgbClr val="0F172A"/>
                    </a:solidFill>
                  </a:tcPr>
                </a:tc>
                <a:tc>
                  <a:txBody>
                    <a:bodyPr/>
                    <a:lstStyle/>
                    <a:p>
                      <a:pPr algn="l"/>
                      <a:r>
                        <a:rPr sz="1350" b="1" i="0" u="none">
                          <a:solidFill>
                            <a:srgbClr val="F8FAFC"/>
                          </a:solidFill>
                          <a:latin typeface="DM Sans"/>
                        </a:rPr>
                        <a:t>Established Finding</a:t>
                      </a:r>
                    </a:p>
                  </a:txBody>
                  <a:tcPr marL="63500" marR="63500" marT="25400" marB="25400" anchor="ctr">
                    <a:lnL>
                      <a:noFill/>
                    </a:lnL>
                    <a:lnR>
                      <a:noFill/>
                    </a:lnR>
                    <a:lnT>
                      <a:noFill/>
                    </a:lnT>
                    <a:lnB>
                      <a:noFill/>
                    </a:lnB>
                    <a:solidFill>
                      <a:srgbClr val="0F172A"/>
                    </a:solidFill>
                  </a:tcPr>
                </a:tc>
                <a:tc>
                  <a:txBody>
                    <a:bodyPr/>
                    <a:lstStyle/>
                    <a:p>
                      <a:pPr algn="l"/>
                      <a:r>
                        <a:rPr sz="1350" b="1" i="0" u="none">
                          <a:solidFill>
                            <a:srgbClr val="F8FAFC"/>
                          </a:solidFill>
                          <a:latin typeface="DM Sans"/>
                        </a:rPr>
                        <a:t>Identified Research Gap</a:t>
                      </a:r>
                    </a:p>
                  </a:txBody>
                  <a:tcPr marL="63500" marR="63500" marT="25400" marB="25400" anchor="ctr">
                    <a:lnL>
                      <a:noFill/>
                    </a:lnL>
                    <a:lnR>
                      <a:noFill/>
                    </a:lnR>
                    <a:lnT>
                      <a:noFill/>
                    </a:lnT>
                    <a:lnB>
                      <a:noFill/>
                    </a:lnB>
                    <a:solidFill>
                      <a:srgbClr val="0F172A"/>
                    </a:solidFill>
                  </a:tcPr>
                </a:tc>
                <a:tc>
                  <a:txBody>
                    <a:bodyPr/>
                    <a:lstStyle/>
                    <a:p>
                      <a:pPr algn="l"/>
                      <a:r>
                        <a:rPr sz="1350" b="1" i="0" u="none">
                          <a:solidFill>
                            <a:srgbClr val="F8FAFC"/>
                          </a:solidFill>
                          <a:latin typeface="DM Sans"/>
                        </a:rPr>
                        <a:t>Proposed Resolution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800100">
                <a:tc>
                  <a:txBody>
                    <a:bodyPr/>
                    <a:lstStyle/>
                    <a:p>
                      <a:pPr algn="l"/>
                      <a:r>
                        <a:rPr sz="1350" b="1" i="0" u="none" dirty="0">
                          <a:solidFill>
                            <a:srgbClr val="1E3A8A"/>
                          </a:solidFill>
                          <a:latin typeface="DM Sans"/>
                        </a:rPr>
                        <a:t>Geng et al. (2026)</a:t>
                      </a:r>
                    </a:p>
                  </a:txBody>
                  <a:tcPr marL="63500" marR="63500" marT="25400" marB="25400" anchor="ctr">
                    <a:lnL>
                      <a:noFill/>
                    </a:lnL>
                    <a:lnR>
                      <a:noFill/>
                    </a:lnR>
                    <a:lnT>
                      <a:noFill/>
                    </a:lnT>
                    <a:lnB>
                      <a:noFill/>
                    </a:lnB>
                    <a:solidFill>
                      <a:srgbClr val="FFFFFF"/>
                    </a:solidFill>
                  </a:tcPr>
                </a:tc>
                <a:tc>
                  <a:txBody>
                    <a:bodyPr/>
                    <a:lstStyle/>
                    <a:p>
                      <a:pPr algn="l"/>
                      <a:r>
                        <a:rPr sz="1350" b="0" i="0" u="none" dirty="0">
                          <a:solidFill>
                            <a:srgbClr val="334155"/>
                          </a:solidFill>
                          <a:latin typeface="DM Sans"/>
                        </a:rPr>
                        <a:t>LLMs fail standalone risk attribution; require SHAP reference</a:t>
                      </a:r>
                    </a:p>
                  </a:txBody>
                  <a:tcPr marL="63500" marR="63500" marT="25400" marB="25400" anchor="ctr">
                    <a:lnL>
                      <a:noFill/>
                    </a:lnL>
                    <a:lnR>
                      <a:noFill/>
                    </a:lnR>
                    <a:lnT>
                      <a:noFill/>
                    </a:lnT>
                    <a:lnB>
                      <a:noFill/>
                    </a:lnB>
                    <a:solidFill>
                      <a:srgbClr val="FFFFFF"/>
                    </a:solidFill>
                  </a:tcPr>
                </a:tc>
                <a:tc>
                  <a:txBody>
                    <a:bodyPr/>
                    <a:lstStyle/>
                    <a:p>
                      <a:pPr algn="l"/>
                      <a:r>
                        <a:rPr sz="1350" b="1" i="0" u="none">
                          <a:solidFill>
                            <a:srgbClr val="B45309"/>
                          </a:solidFill>
                          <a:latin typeface="DM Sans"/>
                        </a:rPr>
                        <a:t>Gap 1: Regulatory Translation</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F172A"/>
                          </a:solidFill>
                          <a:latin typeface="DM Sans"/>
                        </a:rPr>
                        <a:t>Bilingual RBI adverse action notice formatting</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800100">
                <a:tc>
                  <a:txBody>
                    <a:bodyPr/>
                    <a:lstStyle/>
                    <a:p>
                      <a:pPr algn="l"/>
                      <a:r>
                        <a:rPr sz="1350" b="1" i="0" u="none">
                          <a:solidFill>
                            <a:srgbClr val="1E3A8A"/>
                          </a:solidFill>
                          <a:latin typeface="DM Sans"/>
                        </a:rPr>
                        <a:t>Aljunaid et al. (2025)</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Privacy-preserving XAI in distributed banking</a:t>
                      </a:r>
                    </a:p>
                  </a:txBody>
                  <a:tcPr marL="63500" marR="63500" marT="25400" marB="25400" anchor="ctr">
                    <a:lnL>
                      <a:noFill/>
                    </a:lnL>
                    <a:lnR>
                      <a:noFill/>
                    </a:lnR>
                    <a:lnT>
                      <a:noFill/>
                    </a:lnT>
                    <a:lnB>
                      <a:noFill/>
                    </a:lnB>
                    <a:solidFill>
                      <a:srgbClr val="F8FAFC"/>
                    </a:solidFill>
                  </a:tcPr>
                </a:tc>
                <a:tc>
                  <a:txBody>
                    <a:bodyPr/>
                    <a:lstStyle/>
                    <a:p>
                      <a:pPr algn="l"/>
                      <a:r>
                        <a:rPr sz="1350" b="1" i="0" u="none">
                          <a:solidFill>
                            <a:srgbClr val="B45309"/>
                          </a:solidFill>
                          <a:latin typeface="DM Sans"/>
                        </a:rPr>
                        <a:t>Gap 2: Edge Multi-Agent Loop</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0F172A"/>
                          </a:solidFill>
                          <a:latin typeface="DM Sans"/>
                        </a:rPr>
                        <a:t>Coupled Underwriter and Compliance agents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800100">
                <a:tc>
                  <a:txBody>
                    <a:bodyPr/>
                    <a:lstStyle/>
                    <a:p>
                      <a:pPr algn="l"/>
                      <a:r>
                        <a:rPr sz="1350" b="1" i="0" u="none">
                          <a:solidFill>
                            <a:srgbClr val="1E3A8A"/>
                          </a:solidFill>
                          <a:latin typeface="DM Sans"/>
                        </a:rPr>
                        <a:t>Wu et al. (2026)</a:t>
                      </a:r>
                    </a:p>
                  </a:txBody>
                  <a:tcPr marL="63500" marR="63500" marT="25400" marB="25400" anchor="ctr">
                    <a:lnL>
                      <a:noFill/>
                    </a:lnL>
                    <a:lnR>
                      <a:noFill/>
                    </a:lnR>
                    <a:lnT>
                      <a:noFill/>
                    </a:lnT>
                    <a:lnB>
                      <a:noFill/>
                    </a:lnB>
                    <a:solidFill>
                      <a:srgbClr val="FFFFFF"/>
                    </a:solidFill>
                  </a:tcPr>
                </a:tc>
                <a:tc>
                  <a:txBody>
                    <a:bodyPr/>
                    <a:lstStyle/>
                    <a:p>
                      <a:pPr algn="l"/>
                      <a:r>
                        <a:rPr sz="1350" b="0" i="0" u="none" dirty="0">
                          <a:solidFill>
                            <a:srgbClr val="334155"/>
                          </a:solidFill>
                          <a:latin typeface="DM Sans"/>
                        </a:rPr>
                        <a:t>Information-value federated learning for imbalanced risk</a:t>
                      </a:r>
                    </a:p>
                  </a:txBody>
                  <a:tcPr marL="63500" marR="63500" marT="25400" marB="25400" anchor="ctr">
                    <a:lnL>
                      <a:noFill/>
                    </a:lnL>
                    <a:lnR>
                      <a:noFill/>
                    </a:lnR>
                    <a:lnT>
                      <a:noFill/>
                    </a:lnT>
                    <a:lnB>
                      <a:noFill/>
                    </a:lnB>
                    <a:solidFill>
                      <a:srgbClr val="FFFFFF"/>
                    </a:solidFill>
                  </a:tcPr>
                </a:tc>
                <a:tc>
                  <a:txBody>
                    <a:bodyPr/>
                    <a:lstStyle/>
                    <a:p>
                      <a:pPr algn="l"/>
                      <a:r>
                        <a:rPr sz="1350" b="1" i="0" u="none">
                          <a:solidFill>
                            <a:srgbClr val="B45309"/>
                          </a:solidFill>
                          <a:latin typeface="DM Sans"/>
                        </a:rPr>
                        <a:t>Gap 3: Sovereign Inference</a:t>
                      </a:r>
                    </a:p>
                  </a:txBody>
                  <a:tcPr marL="63500" marR="63500" marT="25400" marB="25400" anchor="ctr">
                    <a:lnL>
                      <a:noFill/>
                    </a:lnL>
                    <a:lnR>
                      <a:noFill/>
                    </a:lnR>
                    <a:lnT>
                      <a:noFill/>
                    </a:lnT>
                    <a:lnB>
                      <a:noFill/>
                    </a:lnB>
                    <a:solidFill>
                      <a:srgbClr val="FFFFFF"/>
                    </a:solidFill>
                  </a:tcPr>
                </a:tc>
                <a:tc>
                  <a:txBody>
                    <a:bodyPr/>
                    <a:lstStyle/>
                    <a:p>
                      <a:pPr algn="l"/>
                      <a:r>
                        <a:rPr sz="1350" b="0" i="0" u="none" dirty="0">
                          <a:solidFill>
                            <a:srgbClr val="0F172A"/>
                          </a:solidFill>
                          <a:latin typeface="DM Sans"/>
                        </a:rPr>
                        <a:t>API-independent local open-weight LLM execution</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04 • LITERATURE REVIEW &amp; GAPS</a:t>
            </a:r>
          </a:p>
        </p:txBody>
      </p:sp>
      <p:sp>
        <p:nvSpPr>
          <p:cNvPr id="7" name="TextBox 6"/>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Literature Foundation &amp; Research Gaps</a:t>
            </a:r>
          </a:p>
        </p:txBody>
      </p:sp>
      <p:sp>
        <p:nvSpPr>
          <p:cNvPr id="8" name="TextBox 7"/>
          <p:cNvSpPr txBox="1"/>
          <p:nvPr/>
        </p:nvSpPr>
        <p:spPr>
          <a:xfrm>
            <a:off x="609600" y="6267450"/>
            <a:ext cx="7072312" cy="171450"/>
          </a:xfrm>
          <a:prstGeom prst="rect">
            <a:avLst/>
          </a:prstGeom>
          <a:noFill/>
        </p:spPr>
        <p:txBody>
          <a:bodyPr wrap="none" lIns="0" tIns="0" rIns="0" bIns="0" anchor="t">
            <a:spAutoFit/>
          </a:bodyPr>
          <a:lstStyle/>
          <a:p>
            <a:pPr algn="l"/>
            <a:r>
              <a:rPr sz="1050" b="0" i="0" u="none">
                <a:solidFill>
                  <a:srgbClr val="475569"/>
                </a:solidFill>
                <a:latin typeface="DM Sans"/>
              </a:rPr>
              <a:t>Citations: Aljunaid et al. (2025); Geng et al. (2026); Wu et al. (2026); Lundberg &amp; Lee (2017).</a:t>
            </a:r>
          </a:p>
        </p:txBody>
      </p:sp>
      <p:sp>
        <p:nvSpPr>
          <p:cNvPr id="9" name="TextBox 8"/>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001291"/>
            <a:ext cx="10972800" cy="1569541"/>
          </a:xfrm>
          <a:prstGeom prst="roundRect">
            <a:avLst>
              <a:gd name="adj" fmla="val 728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3837533"/>
            <a:ext cx="2614612" cy="1428750"/>
          </a:xfrm>
          <a:prstGeom prst="roundRect">
            <a:avLst>
              <a:gd name="adj" fmla="val 666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395662" y="3837533"/>
            <a:ext cx="2614612" cy="1428750"/>
          </a:xfrm>
          <a:prstGeom prst="roundRect">
            <a:avLst>
              <a:gd name="adj" fmla="val 666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81725" y="3951833"/>
            <a:ext cx="2614612" cy="1200150"/>
          </a:xfrm>
          <a:prstGeom prst="roundRect">
            <a:avLst>
              <a:gd name="adj" fmla="val 793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967787" y="3837533"/>
            <a:ext cx="2614612" cy="1428750"/>
          </a:xfrm>
          <a:prstGeom prst="roundRect">
            <a:avLst>
              <a:gd name="adj" fmla="val 666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D97706"/>
                </a:solidFill>
                <a:latin typeface="IBM Plex Mono"/>
              </a:rPr>
              <a:t>05 • THESIS PROPOSITION</a:t>
            </a:r>
          </a:p>
        </p:txBody>
      </p:sp>
      <p:sp>
        <p:nvSpPr>
          <p:cNvPr id="10" name="TextBox 9"/>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Proposed Contribution &amp; Novelty</a:t>
            </a:r>
          </a:p>
        </p:txBody>
      </p:sp>
      <p:sp>
        <p:nvSpPr>
          <p:cNvPr id="11" name="TextBox 10"/>
          <p:cNvSpPr txBox="1"/>
          <p:nvPr/>
        </p:nvSpPr>
        <p:spPr>
          <a:xfrm>
            <a:off x="609600" y="6267450"/>
            <a:ext cx="8310562" cy="171450"/>
          </a:xfrm>
          <a:prstGeom prst="rect">
            <a:avLst/>
          </a:prstGeom>
          <a:noFill/>
        </p:spPr>
        <p:txBody>
          <a:bodyPr wrap="none" lIns="0" tIns="0" rIns="0" bIns="0" anchor="t">
            <a:spAutoFit/>
          </a:bodyPr>
          <a:lstStyle/>
          <a:p>
            <a:pPr algn="l"/>
            <a:r>
              <a:rPr sz="1050" b="0" i="0" u="none">
                <a:solidFill>
                  <a:srgbClr val="475569"/>
                </a:solidFill>
                <a:latin typeface="DM Sans"/>
              </a:rPr>
              <a:t>Strict separation of predictive scoring, mathematical explanation, narrative synthesis, and compliance audit.</a:t>
            </a:r>
          </a:p>
        </p:txBody>
      </p:sp>
      <p:sp>
        <p:nvSpPr>
          <p:cNvPr id="12" name="TextBox 11"/>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06</a:t>
            </a:r>
          </a:p>
        </p:txBody>
      </p:sp>
      <p:sp>
        <p:nvSpPr>
          <p:cNvPr id="13" name="TextBox 12"/>
          <p:cNvSpPr txBox="1"/>
          <p:nvPr/>
        </p:nvSpPr>
        <p:spPr>
          <a:xfrm>
            <a:off x="990600" y="2306091"/>
            <a:ext cx="11201400" cy="171450"/>
          </a:xfrm>
          <a:prstGeom prst="rect">
            <a:avLst/>
          </a:prstGeom>
          <a:noFill/>
        </p:spPr>
        <p:txBody>
          <a:bodyPr wrap="none" lIns="0" tIns="0" rIns="0" bIns="0" anchor="t">
            <a:spAutoFit/>
          </a:bodyPr>
          <a:lstStyle/>
          <a:p>
            <a:pPr algn="l"/>
            <a:r>
              <a:rPr sz="1050" b="0" i="0" u="none">
                <a:solidFill>
                  <a:srgbClr val="2DD4BF"/>
                </a:solidFill>
                <a:latin typeface="IBM Plex Mono"/>
              </a:rPr>
              <a:t>CORE ARCHITECTURAL PROPOSITION</a:t>
            </a:r>
          </a:p>
        </p:txBody>
      </p:sp>
      <p:sp>
        <p:nvSpPr>
          <p:cNvPr id="14" name="TextBox 13"/>
          <p:cNvSpPr txBox="1"/>
          <p:nvPr/>
        </p:nvSpPr>
        <p:spPr>
          <a:xfrm>
            <a:off x="990600" y="2572791"/>
            <a:ext cx="10306050" cy="693241"/>
          </a:xfrm>
          <a:prstGeom prst="rect">
            <a:avLst/>
          </a:prstGeom>
          <a:noFill/>
        </p:spPr>
        <p:txBody>
          <a:bodyPr wrap="square" lIns="0" tIns="0" rIns="0" bIns="0" anchor="t">
            <a:spAutoFit/>
          </a:bodyPr>
          <a:lstStyle/>
          <a:p>
            <a:pPr algn="l">
              <a:lnSpc>
                <a:spcPts val="2729"/>
              </a:lnSpc>
            </a:pPr>
            <a:r>
              <a:rPr sz="2100" b="1" i="0" u="none">
                <a:solidFill>
                  <a:srgbClr val="F8FAFC"/>
                </a:solidFill>
                <a:latin typeface="DM Sans"/>
              </a:rPr>
              <a:t>“The LLM acts as a controlled narrative translator of verified model explanations, not as an autonomous credit decision-maker.”</a:t>
            </a:r>
          </a:p>
        </p:txBody>
      </p:sp>
      <p:sp>
        <p:nvSpPr>
          <p:cNvPr id="15" name="TextBox 14"/>
          <p:cNvSpPr txBox="1"/>
          <p:nvPr/>
        </p:nvSpPr>
        <p:spPr>
          <a:xfrm>
            <a:off x="809625" y="4037558"/>
            <a:ext cx="2309812" cy="219075"/>
          </a:xfrm>
          <a:prstGeom prst="rect">
            <a:avLst/>
          </a:prstGeom>
          <a:noFill/>
        </p:spPr>
        <p:txBody>
          <a:bodyPr wrap="square" lIns="0" tIns="0" rIns="0" bIns="0" anchor="t">
            <a:spAutoFit/>
          </a:bodyPr>
          <a:lstStyle/>
          <a:p>
            <a:pPr algn="l"/>
            <a:r>
              <a:rPr sz="1050" b="1" i="0" u="none">
                <a:solidFill>
                  <a:srgbClr val="1E3A8A"/>
                </a:solidFill>
                <a:latin typeface="IBM Plex Mono"/>
              </a:rPr>
              <a:t>STAGE 1 • PREDICTION</a:t>
            </a:r>
          </a:p>
        </p:txBody>
      </p:sp>
      <p:sp>
        <p:nvSpPr>
          <p:cNvPr id="16" name="TextBox 15"/>
          <p:cNvSpPr txBox="1"/>
          <p:nvPr/>
        </p:nvSpPr>
        <p:spPr>
          <a:xfrm>
            <a:off x="809625" y="4313783"/>
            <a:ext cx="2906613" cy="238125"/>
          </a:xfrm>
          <a:prstGeom prst="rect">
            <a:avLst/>
          </a:prstGeom>
          <a:noFill/>
        </p:spPr>
        <p:txBody>
          <a:bodyPr wrap="none" lIns="0" tIns="0" rIns="0" bIns="0" anchor="t">
            <a:spAutoFit/>
          </a:bodyPr>
          <a:lstStyle/>
          <a:p>
            <a:pPr algn="l"/>
            <a:r>
              <a:rPr sz="1425" b="1" i="0" u="none">
                <a:solidFill>
                  <a:srgbClr val="0F172A"/>
                </a:solidFill>
                <a:latin typeface="DM Sans"/>
              </a:rPr>
              <a:t>Risk Classification</a:t>
            </a:r>
          </a:p>
        </p:txBody>
      </p:sp>
      <p:sp>
        <p:nvSpPr>
          <p:cNvPr id="17" name="TextBox 16"/>
          <p:cNvSpPr txBox="1"/>
          <p:nvPr/>
        </p:nvSpPr>
        <p:spPr>
          <a:xfrm>
            <a:off x="809625" y="4609058"/>
            <a:ext cx="2309812" cy="457200"/>
          </a:xfrm>
          <a:prstGeom prst="rect">
            <a:avLst/>
          </a:prstGeom>
          <a:noFill/>
        </p:spPr>
        <p:txBody>
          <a:bodyPr wrap="square" lIns="0" tIns="0" rIns="0" bIns="0" anchor="t">
            <a:spAutoFit/>
          </a:bodyPr>
          <a:lstStyle/>
          <a:p>
            <a:pPr algn="l"/>
            <a:r>
              <a:rPr sz="1350" b="0" i="0" u="none">
                <a:solidFill>
                  <a:srgbClr val="475569"/>
                </a:solidFill>
                <a:latin typeface="DM Sans"/>
              </a:rPr>
              <a:t>XGBoost / LightGBM scoring</a:t>
            </a:r>
          </a:p>
        </p:txBody>
      </p:sp>
      <p:sp>
        <p:nvSpPr>
          <p:cNvPr id="18" name="TextBox 17"/>
          <p:cNvSpPr txBox="1"/>
          <p:nvPr/>
        </p:nvSpPr>
        <p:spPr>
          <a:xfrm>
            <a:off x="3595687" y="4037558"/>
            <a:ext cx="2309812" cy="219075"/>
          </a:xfrm>
          <a:prstGeom prst="rect">
            <a:avLst/>
          </a:prstGeom>
          <a:noFill/>
        </p:spPr>
        <p:txBody>
          <a:bodyPr wrap="square" lIns="0" tIns="0" rIns="0" bIns="0" anchor="t">
            <a:spAutoFit/>
          </a:bodyPr>
          <a:lstStyle/>
          <a:p>
            <a:pPr algn="l"/>
            <a:r>
              <a:rPr sz="1050" b="1" i="0" u="none">
                <a:solidFill>
                  <a:srgbClr val="0D9488"/>
                </a:solidFill>
                <a:latin typeface="IBM Plex Mono"/>
              </a:rPr>
              <a:t>STAGE 2 • ATTRIBUTION</a:t>
            </a:r>
          </a:p>
        </p:txBody>
      </p:sp>
      <p:sp>
        <p:nvSpPr>
          <p:cNvPr id="19" name="TextBox 18"/>
          <p:cNvSpPr txBox="1"/>
          <p:nvPr/>
        </p:nvSpPr>
        <p:spPr>
          <a:xfrm>
            <a:off x="3595687" y="4313783"/>
            <a:ext cx="2906613" cy="238125"/>
          </a:xfrm>
          <a:prstGeom prst="rect">
            <a:avLst/>
          </a:prstGeom>
          <a:noFill/>
        </p:spPr>
        <p:txBody>
          <a:bodyPr wrap="none" lIns="0" tIns="0" rIns="0" bIns="0" anchor="t">
            <a:spAutoFit/>
          </a:bodyPr>
          <a:lstStyle/>
          <a:p>
            <a:pPr algn="l"/>
            <a:r>
              <a:rPr sz="1425" b="1" i="0" u="none">
                <a:solidFill>
                  <a:srgbClr val="0F172A"/>
                </a:solidFill>
                <a:latin typeface="DM Sans"/>
              </a:rPr>
              <a:t>Mathematical XAI</a:t>
            </a:r>
          </a:p>
        </p:txBody>
      </p:sp>
      <p:sp>
        <p:nvSpPr>
          <p:cNvPr id="20" name="TextBox 19"/>
          <p:cNvSpPr txBox="1"/>
          <p:nvPr/>
        </p:nvSpPr>
        <p:spPr>
          <a:xfrm>
            <a:off x="3595687" y="4609058"/>
            <a:ext cx="2309812" cy="457200"/>
          </a:xfrm>
          <a:prstGeom prst="rect">
            <a:avLst/>
          </a:prstGeom>
          <a:noFill/>
        </p:spPr>
        <p:txBody>
          <a:bodyPr wrap="square" lIns="0" tIns="0" rIns="0" bIns="0" anchor="t">
            <a:spAutoFit/>
          </a:bodyPr>
          <a:lstStyle/>
          <a:p>
            <a:pPr algn="l"/>
            <a:r>
              <a:rPr sz="1350" b="0" i="0" u="none">
                <a:solidFill>
                  <a:srgbClr val="475569"/>
                </a:solidFill>
                <a:latin typeface="DM Sans"/>
              </a:rPr>
              <a:t>Top-3 negative SHAP factors</a:t>
            </a:r>
          </a:p>
        </p:txBody>
      </p:sp>
      <p:sp>
        <p:nvSpPr>
          <p:cNvPr id="21" name="TextBox 20"/>
          <p:cNvSpPr txBox="1"/>
          <p:nvPr/>
        </p:nvSpPr>
        <p:spPr>
          <a:xfrm>
            <a:off x="6381750" y="4151858"/>
            <a:ext cx="2309812" cy="219075"/>
          </a:xfrm>
          <a:prstGeom prst="rect">
            <a:avLst/>
          </a:prstGeom>
          <a:noFill/>
        </p:spPr>
        <p:txBody>
          <a:bodyPr wrap="square" lIns="0" tIns="0" rIns="0" bIns="0" anchor="t">
            <a:spAutoFit/>
          </a:bodyPr>
          <a:lstStyle/>
          <a:p>
            <a:pPr algn="l"/>
            <a:r>
              <a:rPr sz="1050" b="1" i="0" u="none">
                <a:solidFill>
                  <a:srgbClr val="D97706"/>
                </a:solidFill>
                <a:latin typeface="IBM Plex Mono"/>
              </a:rPr>
              <a:t>STAGE 3 • TRANSLATION</a:t>
            </a:r>
          </a:p>
        </p:txBody>
      </p:sp>
      <p:sp>
        <p:nvSpPr>
          <p:cNvPr id="22" name="TextBox 21"/>
          <p:cNvSpPr txBox="1"/>
          <p:nvPr/>
        </p:nvSpPr>
        <p:spPr>
          <a:xfrm>
            <a:off x="6381750" y="4428083"/>
            <a:ext cx="2906613" cy="238125"/>
          </a:xfrm>
          <a:prstGeom prst="rect">
            <a:avLst/>
          </a:prstGeom>
          <a:noFill/>
        </p:spPr>
        <p:txBody>
          <a:bodyPr wrap="none" lIns="0" tIns="0" rIns="0" bIns="0" anchor="t">
            <a:spAutoFit/>
          </a:bodyPr>
          <a:lstStyle/>
          <a:p>
            <a:pPr algn="l"/>
            <a:r>
              <a:rPr sz="1425" b="1" i="0" u="none">
                <a:solidFill>
                  <a:srgbClr val="0F172A"/>
                </a:solidFill>
                <a:latin typeface="DM Sans"/>
              </a:rPr>
              <a:t>Narrative Drafting</a:t>
            </a:r>
          </a:p>
        </p:txBody>
      </p:sp>
      <p:sp>
        <p:nvSpPr>
          <p:cNvPr id="23" name="TextBox 22"/>
          <p:cNvSpPr txBox="1"/>
          <p:nvPr/>
        </p:nvSpPr>
        <p:spPr>
          <a:xfrm>
            <a:off x="6381750" y="4723358"/>
            <a:ext cx="2768203" cy="228600"/>
          </a:xfrm>
          <a:prstGeom prst="rect">
            <a:avLst/>
          </a:prstGeom>
          <a:noFill/>
        </p:spPr>
        <p:txBody>
          <a:bodyPr wrap="none" lIns="0" tIns="0" rIns="0" bIns="0" anchor="t">
            <a:spAutoFit/>
          </a:bodyPr>
          <a:lstStyle/>
          <a:p>
            <a:pPr algn="l"/>
            <a:r>
              <a:rPr sz="1350" b="0" i="0" u="none">
                <a:solidFill>
                  <a:srgbClr val="475569"/>
                </a:solidFill>
                <a:latin typeface="DM Sans"/>
              </a:rPr>
              <a:t>Local LLM bilingual notice</a:t>
            </a:r>
          </a:p>
        </p:txBody>
      </p:sp>
      <p:sp>
        <p:nvSpPr>
          <p:cNvPr id="24" name="TextBox 23"/>
          <p:cNvSpPr txBox="1"/>
          <p:nvPr/>
        </p:nvSpPr>
        <p:spPr>
          <a:xfrm>
            <a:off x="9167812" y="4037558"/>
            <a:ext cx="2309812" cy="219075"/>
          </a:xfrm>
          <a:prstGeom prst="rect">
            <a:avLst/>
          </a:prstGeom>
          <a:noFill/>
        </p:spPr>
        <p:txBody>
          <a:bodyPr wrap="square" lIns="0" tIns="0" rIns="0" bIns="0" anchor="t">
            <a:spAutoFit/>
          </a:bodyPr>
          <a:lstStyle/>
          <a:p>
            <a:pPr algn="l"/>
            <a:r>
              <a:rPr sz="1050" b="1" i="0" u="none">
                <a:solidFill>
                  <a:srgbClr val="0F172A"/>
                </a:solidFill>
                <a:latin typeface="IBM Plex Mono"/>
              </a:rPr>
              <a:t>STAGE 4 • AUDIT</a:t>
            </a:r>
          </a:p>
        </p:txBody>
      </p:sp>
      <p:sp>
        <p:nvSpPr>
          <p:cNvPr id="25" name="TextBox 24"/>
          <p:cNvSpPr txBox="1"/>
          <p:nvPr/>
        </p:nvSpPr>
        <p:spPr>
          <a:xfrm>
            <a:off x="9167812" y="4313783"/>
            <a:ext cx="2906613" cy="238125"/>
          </a:xfrm>
          <a:prstGeom prst="rect">
            <a:avLst/>
          </a:prstGeom>
          <a:noFill/>
        </p:spPr>
        <p:txBody>
          <a:bodyPr wrap="none" lIns="0" tIns="0" rIns="0" bIns="0" anchor="t">
            <a:spAutoFit/>
          </a:bodyPr>
          <a:lstStyle/>
          <a:p>
            <a:pPr algn="l"/>
            <a:r>
              <a:rPr sz="1425" b="1" i="0" u="none">
                <a:solidFill>
                  <a:srgbClr val="0F172A"/>
                </a:solidFill>
                <a:latin typeface="DM Sans"/>
              </a:rPr>
              <a:t>Regulatory Review</a:t>
            </a:r>
          </a:p>
        </p:txBody>
      </p:sp>
      <p:sp>
        <p:nvSpPr>
          <p:cNvPr id="26" name="TextBox 25"/>
          <p:cNvSpPr txBox="1"/>
          <p:nvPr/>
        </p:nvSpPr>
        <p:spPr>
          <a:xfrm>
            <a:off x="9167812" y="4609058"/>
            <a:ext cx="2309812" cy="457200"/>
          </a:xfrm>
          <a:prstGeom prst="rect">
            <a:avLst/>
          </a:prstGeom>
          <a:noFill/>
        </p:spPr>
        <p:txBody>
          <a:bodyPr wrap="square" lIns="0" tIns="0" rIns="0" bIns="0" anchor="t">
            <a:spAutoFit/>
          </a:bodyPr>
          <a:lstStyle/>
          <a:p>
            <a:pPr algn="l"/>
            <a:r>
              <a:rPr sz="1350" b="0" i="0" u="none">
                <a:solidFill>
                  <a:srgbClr val="475569"/>
                </a:solidFill>
                <a:latin typeface="DM Sans"/>
              </a:rPr>
              <a:t>Fidelity &amp; compliance check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928812"/>
            <a:ext cx="10972800" cy="1400175"/>
          </a:xfrm>
          <a:prstGeom prst="roundRect">
            <a:avLst>
              <a:gd name="adj" fmla="val 816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3519487"/>
            <a:ext cx="10972800" cy="1400175"/>
          </a:xfrm>
          <a:prstGeom prst="roundRect">
            <a:avLst>
              <a:gd name="adj" fmla="val 816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61436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47725" y="2462212"/>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015555" y="2462212"/>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183385" y="2462212"/>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51216" y="2462212"/>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519046" y="2462212"/>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47725" y="4052887"/>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015555" y="4052887"/>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83385" y="4052887"/>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51216" y="4052887"/>
            <a:ext cx="1824930" cy="666750"/>
          </a:xfrm>
          <a:prstGeom prst="roundRect">
            <a:avLst>
              <a:gd name="adj" fmla="val 1142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519046" y="4052887"/>
            <a:ext cx="1824930" cy="666750"/>
          </a:xfrm>
          <a:prstGeom prst="roundRect">
            <a:avLst>
              <a:gd name="adj" fmla="val 11428"/>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3"/>
          <a:stretch>
            <a:fillRect/>
          </a:stretch>
        </p:blipFill>
        <p:spPr>
          <a:xfrm>
            <a:off x="2767905" y="2709862"/>
            <a:ext cx="152400" cy="171450"/>
          </a:xfrm>
          <a:prstGeom prst="rect">
            <a:avLst/>
          </a:prstGeom>
        </p:spPr>
      </p:pic>
      <p:pic>
        <p:nvPicPr>
          <p:cNvPr id="17" name="Picture 16" descr="image.png"/>
          <p:cNvPicPr>
            <a:picLocks noChangeAspect="1"/>
          </p:cNvPicPr>
          <p:nvPr/>
        </p:nvPicPr>
        <p:blipFill>
          <a:blip r:embed="rId3"/>
          <a:stretch>
            <a:fillRect/>
          </a:stretch>
        </p:blipFill>
        <p:spPr>
          <a:xfrm>
            <a:off x="4935735" y="2709862"/>
            <a:ext cx="152400" cy="171450"/>
          </a:xfrm>
          <a:prstGeom prst="rect">
            <a:avLst/>
          </a:prstGeom>
        </p:spPr>
      </p:pic>
      <p:pic>
        <p:nvPicPr>
          <p:cNvPr id="18" name="Picture 17" descr="image.png"/>
          <p:cNvPicPr>
            <a:picLocks noChangeAspect="1"/>
          </p:cNvPicPr>
          <p:nvPr/>
        </p:nvPicPr>
        <p:blipFill>
          <a:blip r:embed="rId3"/>
          <a:stretch>
            <a:fillRect/>
          </a:stretch>
        </p:blipFill>
        <p:spPr>
          <a:xfrm>
            <a:off x="7103566" y="2709862"/>
            <a:ext cx="152400" cy="171450"/>
          </a:xfrm>
          <a:prstGeom prst="rect">
            <a:avLst/>
          </a:prstGeom>
        </p:spPr>
      </p:pic>
      <p:pic>
        <p:nvPicPr>
          <p:cNvPr id="19" name="Picture 18" descr="image.png"/>
          <p:cNvPicPr>
            <a:picLocks noChangeAspect="1"/>
          </p:cNvPicPr>
          <p:nvPr/>
        </p:nvPicPr>
        <p:blipFill>
          <a:blip r:embed="rId3"/>
          <a:stretch>
            <a:fillRect/>
          </a:stretch>
        </p:blipFill>
        <p:spPr>
          <a:xfrm>
            <a:off x="9271396" y="2709862"/>
            <a:ext cx="152400" cy="171450"/>
          </a:xfrm>
          <a:prstGeom prst="rect">
            <a:avLst/>
          </a:prstGeom>
        </p:spPr>
      </p:pic>
      <p:pic>
        <p:nvPicPr>
          <p:cNvPr id="20" name="Picture 19" descr="image.png"/>
          <p:cNvPicPr>
            <a:picLocks noChangeAspect="1"/>
          </p:cNvPicPr>
          <p:nvPr/>
        </p:nvPicPr>
        <p:blipFill>
          <a:blip r:embed="rId4"/>
          <a:stretch>
            <a:fillRect/>
          </a:stretch>
        </p:blipFill>
        <p:spPr>
          <a:xfrm>
            <a:off x="2767905" y="4300537"/>
            <a:ext cx="152400" cy="171450"/>
          </a:xfrm>
          <a:prstGeom prst="rect">
            <a:avLst/>
          </a:prstGeom>
        </p:spPr>
      </p:pic>
      <p:pic>
        <p:nvPicPr>
          <p:cNvPr id="21" name="Picture 20" descr="image.png"/>
          <p:cNvPicPr>
            <a:picLocks noChangeAspect="1"/>
          </p:cNvPicPr>
          <p:nvPr/>
        </p:nvPicPr>
        <p:blipFill>
          <a:blip r:embed="rId4"/>
          <a:stretch>
            <a:fillRect/>
          </a:stretch>
        </p:blipFill>
        <p:spPr>
          <a:xfrm>
            <a:off x="4935735" y="4300537"/>
            <a:ext cx="152400" cy="171450"/>
          </a:xfrm>
          <a:prstGeom prst="rect">
            <a:avLst/>
          </a:prstGeom>
        </p:spPr>
      </p:pic>
      <p:pic>
        <p:nvPicPr>
          <p:cNvPr id="22" name="Picture 21" descr="image.png"/>
          <p:cNvPicPr>
            <a:picLocks noChangeAspect="1"/>
          </p:cNvPicPr>
          <p:nvPr/>
        </p:nvPicPr>
        <p:blipFill>
          <a:blip r:embed="rId4"/>
          <a:stretch>
            <a:fillRect/>
          </a:stretch>
        </p:blipFill>
        <p:spPr>
          <a:xfrm>
            <a:off x="7103566" y="4300537"/>
            <a:ext cx="152400" cy="171450"/>
          </a:xfrm>
          <a:prstGeom prst="rect">
            <a:avLst/>
          </a:prstGeom>
        </p:spPr>
      </p:pic>
      <p:pic>
        <p:nvPicPr>
          <p:cNvPr id="23" name="Picture 22" descr="image.png"/>
          <p:cNvPicPr>
            <a:picLocks noChangeAspect="1"/>
          </p:cNvPicPr>
          <p:nvPr/>
        </p:nvPicPr>
        <p:blipFill>
          <a:blip r:embed="rId4"/>
          <a:stretch>
            <a:fillRect/>
          </a:stretch>
        </p:blipFill>
        <p:spPr>
          <a:xfrm>
            <a:off x="9271396" y="4300537"/>
            <a:ext cx="152400" cy="171450"/>
          </a:xfrm>
          <a:prstGeom prst="rect">
            <a:avLst/>
          </a:prstGeom>
        </p:spPr>
      </p:pic>
      <p:sp>
        <p:nvSpPr>
          <p:cNvPr id="24" name="TextBox 23"/>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06 • SYSTEM DESIGN</a:t>
            </a:r>
          </a:p>
        </p:txBody>
      </p:sp>
      <p:sp>
        <p:nvSpPr>
          <p:cNvPr id="25" name="TextBox 24"/>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Dual-Agent System Architecture</a:t>
            </a:r>
          </a:p>
        </p:txBody>
      </p:sp>
      <p:sp>
        <p:nvSpPr>
          <p:cNvPr id="26" name="TextBox 25"/>
          <p:cNvSpPr txBox="1"/>
          <p:nvPr/>
        </p:nvSpPr>
        <p:spPr>
          <a:xfrm>
            <a:off x="-381000" y="5110162"/>
            <a:ext cx="12954000" cy="228600"/>
          </a:xfrm>
          <a:prstGeom prst="rect">
            <a:avLst/>
          </a:prstGeom>
          <a:noFill/>
        </p:spPr>
        <p:txBody>
          <a:bodyPr wrap="none" lIns="0" tIns="0" rIns="0" bIns="0" anchor="t">
            <a:spAutoFit/>
          </a:bodyPr>
          <a:lstStyle/>
          <a:p>
            <a:pPr algn="ctr"/>
            <a:r>
              <a:rPr sz="1350" b="1" i="0" u="none">
                <a:solidFill>
                  <a:srgbClr val="334155"/>
                </a:solidFill>
                <a:latin typeface="DM Sans"/>
              </a:rPr>
              <a:t>Methodological Note: SHAP quantifies internal model feature attribution rather than real-world causal relationships.</a:t>
            </a:r>
          </a:p>
        </p:txBody>
      </p:sp>
      <p:sp>
        <p:nvSpPr>
          <p:cNvPr id="27" name="TextBox 26"/>
          <p:cNvSpPr txBox="1"/>
          <p:nvPr/>
        </p:nvSpPr>
        <p:spPr>
          <a:xfrm>
            <a:off x="609600" y="6267450"/>
            <a:ext cx="7572375" cy="171450"/>
          </a:xfrm>
          <a:prstGeom prst="rect">
            <a:avLst/>
          </a:prstGeom>
          <a:noFill/>
        </p:spPr>
        <p:txBody>
          <a:bodyPr wrap="none" lIns="0" tIns="0" rIns="0" bIns="0" anchor="t">
            <a:spAutoFit/>
          </a:bodyPr>
          <a:lstStyle/>
          <a:p>
            <a:pPr algn="l"/>
            <a:r>
              <a:rPr sz="1050" b="0" i="0" u="none">
                <a:solidFill>
                  <a:srgbClr val="475569"/>
                </a:solidFill>
                <a:latin typeface="DM Sans"/>
              </a:rPr>
              <a:t>All 10 stages execute within an air-gapped local computing environment without external API calls.</a:t>
            </a:r>
          </a:p>
        </p:txBody>
      </p:sp>
      <p:sp>
        <p:nvSpPr>
          <p:cNvPr id="28" name="TextBox 27"/>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07</a:t>
            </a:r>
          </a:p>
        </p:txBody>
      </p:sp>
      <p:sp>
        <p:nvSpPr>
          <p:cNvPr id="29" name="TextBox 28"/>
          <p:cNvSpPr txBox="1"/>
          <p:nvPr/>
        </p:nvSpPr>
        <p:spPr>
          <a:xfrm>
            <a:off x="847725" y="2128837"/>
            <a:ext cx="10591800" cy="219075"/>
          </a:xfrm>
          <a:prstGeom prst="rect">
            <a:avLst/>
          </a:prstGeom>
          <a:noFill/>
        </p:spPr>
        <p:txBody>
          <a:bodyPr wrap="square" lIns="0" tIns="0" rIns="0" bIns="0" anchor="t">
            <a:spAutoFit/>
          </a:bodyPr>
          <a:lstStyle/>
          <a:p>
            <a:pPr algn="l"/>
            <a:r>
              <a:rPr sz="1050" b="1" i="0" u="none">
                <a:solidFill>
                  <a:srgbClr val="1E3A8A"/>
                </a:solidFill>
                <a:latin typeface="IBM Plex Mono"/>
              </a:rPr>
              <a:t>AGENT 1 • DETERMINISTIC UNDERWRITER AGENT (PREDICTION &amp; MATHEMATICAL ATTRIBUTION)</a:t>
            </a:r>
          </a:p>
        </p:txBody>
      </p:sp>
      <p:sp>
        <p:nvSpPr>
          <p:cNvPr id="30" name="TextBox 29"/>
          <p:cNvSpPr txBox="1"/>
          <p:nvPr/>
        </p:nvSpPr>
        <p:spPr>
          <a:xfrm>
            <a:off x="847725" y="3719512"/>
            <a:ext cx="10591800" cy="219075"/>
          </a:xfrm>
          <a:prstGeom prst="rect">
            <a:avLst/>
          </a:prstGeom>
          <a:noFill/>
        </p:spPr>
        <p:txBody>
          <a:bodyPr wrap="square" lIns="0" tIns="0" rIns="0" bIns="0" anchor="t">
            <a:spAutoFit/>
          </a:bodyPr>
          <a:lstStyle/>
          <a:p>
            <a:pPr algn="l"/>
            <a:r>
              <a:rPr sz="1050" b="1" i="0" u="none">
                <a:solidFill>
                  <a:srgbClr val="0D9488"/>
                </a:solidFill>
                <a:latin typeface="IBM Plex Mono"/>
              </a:rPr>
              <a:t>AGENT 2 • LOCAL COMPLIANCE AGENT (CONSTRAINED TRANSLATION &amp; VERIFICATION)</a:t>
            </a:r>
          </a:p>
        </p:txBody>
      </p:sp>
      <p:sp>
        <p:nvSpPr>
          <p:cNvPr id="31" name="TextBox 30"/>
          <p:cNvSpPr txBox="1"/>
          <p:nvPr/>
        </p:nvSpPr>
        <p:spPr>
          <a:xfrm>
            <a:off x="762483" y="2576512"/>
            <a:ext cx="1995413" cy="228600"/>
          </a:xfrm>
          <a:prstGeom prst="rect">
            <a:avLst/>
          </a:prstGeom>
          <a:noFill/>
        </p:spPr>
        <p:txBody>
          <a:bodyPr wrap="none" lIns="0" tIns="0" rIns="0" bIns="0" anchor="t">
            <a:spAutoFit/>
          </a:bodyPr>
          <a:lstStyle/>
          <a:p>
            <a:pPr algn="ctr"/>
            <a:r>
              <a:rPr sz="1350" b="1" i="0" u="none">
                <a:solidFill>
                  <a:srgbClr val="0F172A"/>
                </a:solidFill>
                <a:latin typeface="DM Sans"/>
              </a:rPr>
              <a:t>1. Dataset</a:t>
            </a:r>
          </a:p>
        </p:txBody>
      </p:sp>
      <p:sp>
        <p:nvSpPr>
          <p:cNvPr id="32" name="TextBox 31"/>
          <p:cNvSpPr txBox="1"/>
          <p:nvPr/>
        </p:nvSpPr>
        <p:spPr>
          <a:xfrm>
            <a:off x="762483" y="2843212"/>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Credit profiles</a:t>
            </a:r>
          </a:p>
        </p:txBody>
      </p:sp>
      <p:sp>
        <p:nvSpPr>
          <p:cNvPr id="33" name="TextBox 32"/>
          <p:cNvSpPr txBox="1"/>
          <p:nvPr/>
        </p:nvSpPr>
        <p:spPr>
          <a:xfrm>
            <a:off x="2930314" y="2576512"/>
            <a:ext cx="1995413" cy="228600"/>
          </a:xfrm>
          <a:prstGeom prst="rect">
            <a:avLst/>
          </a:prstGeom>
          <a:noFill/>
        </p:spPr>
        <p:txBody>
          <a:bodyPr wrap="none" lIns="0" tIns="0" rIns="0" bIns="0" anchor="t">
            <a:spAutoFit/>
          </a:bodyPr>
          <a:lstStyle/>
          <a:p>
            <a:pPr algn="ctr"/>
            <a:r>
              <a:rPr sz="1350" b="1" i="0" u="none">
                <a:solidFill>
                  <a:srgbClr val="0F172A"/>
                </a:solidFill>
                <a:latin typeface="DM Sans"/>
              </a:rPr>
              <a:t>2. Preprocessing</a:t>
            </a:r>
          </a:p>
        </p:txBody>
      </p:sp>
      <p:sp>
        <p:nvSpPr>
          <p:cNvPr id="34" name="TextBox 33"/>
          <p:cNvSpPr txBox="1"/>
          <p:nvPr/>
        </p:nvSpPr>
        <p:spPr>
          <a:xfrm>
            <a:off x="2930314" y="2843212"/>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Encoding &amp; scaling</a:t>
            </a:r>
          </a:p>
        </p:txBody>
      </p:sp>
      <p:sp>
        <p:nvSpPr>
          <p:cNvPr id="35" name="TextBox 34"/>
          <p:cNvSpPr txBox="1"/>
          <p:nvPr/>
        </p:nvSpPr>
        <p:spPr>
          <a:xfrm>
            <a:off x="5098144" y="2576512"/>
            <a:ext cx="1995413" cy="228600"/>
          </a:xfrm>
          <a:prstGeom prst="rect">
            <a:avLst/>
          </a:prstGeom>
          <a:noFill/>
        </p:spPr>
        <p:txBody>
          <a:bodyPr wrap="none" lIns="0" tIns="0" rIns="0" bIns="0" anchor="t">
            <a:spAutoFit/>
          </a:bodyPr>
          <a:lstStyle/>
          <a:p>
            <a:pPr algn="ctr"/>
            <a:r>
              <a:rPr sz="1350" b="1" i="0" u="none">
                <a:solidFill>
                  <a:srgbClr val="1E3A8A"/>
                </a:solidFill>
                <a:latin typeface="DM Sans"/>
              </a:rPr>
              <a:t>3. XGBoost/LGBM</a:t>
            </a:r>
          </a:p>
        </p:txBody>
      </p:sp>
      <p:sp>
        <p:nvSpPr>
          <p:cNvPr id="36" name="TextBox 35"/>
          <p:cNvSpPr txBox="1"/>
          <p:nvPr/>
        </p:nvSpPr>
        <p:spPr>
          <a:xfrm>
            <a:off x="5098144" y="2843212"/>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Non-linear model</a:t>
            </a:r>
          </a:p>
        </p:txBody>
      </p:sp>
      <p:sp>
        <p:nvSpPr>
          <p:cNvPr id="37" name="TextBox 36"/>
          <p:cNvSpPr txBox="1"/>
          <p:nvPr/>
        </p:nvSpPr>
        <p:spPr>
          <a:xfrm>
            <a:off x="7265975" y="2576512"/>
            <a:ext cx="1995413" cy="228600"/>
          </a:xfrm>
          <a:prstGeom prst="rect">
            <a:avLst/>
          </a:prstGeom>
          <a:noFill/>
        </p:spPr>
        <p:txBody>
          <a:bodyPr wrap="none" lIns="0" tIns="0" rIns="0" bIns="0" anchor="t">
            <a:spAutoFit/>
          </a:bodyPr>
          <a:lstStyle/>
          <a:p>
            <a:pPr algn="ctr"/>
            <a:r>
              <a:rPr sz="1350" b="1" i="0" u="none">
                <a:solidFill>
                  <a:srgbClr val="B91C1C"/>
                </a:solidFill>
                <a:latin typeface="DM Sans"/>
              </a:rPr>
              <a:t>4. Credit Decision</a:t>
            </a:r>
          </a:p>
        </p:txBody>
      </p:sp>
      <p:sp>
        <p:nvSpPr>
          <p:cNvPr id="38" name="TextBox 37"/>
          <p:cNvSpPr txBox="1"/>
          <p:nvPr/>
        </p:nvSpPr>
        <p:spPr>
          <a:xfrm>
            <a:off x="7265975" y="2843212"/>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Declined subset</a:t>
            </a:r>
          </a:p>
        </p:txBody>
      </p:sp>
      <p:sp>
        <p:nvSpPr>
          <p:cNvPr id="39" name="TextBox 38"/>
          <p:cNvSpPr txBox="1"/>
          <p:nvPr/>
        </p:nvSpPr>
        <p:spPr>
          <a:xfrm>
            <a:off x="9433805" y="2576512"/>
            <a:ext cx="1995413" cy="228600"/>
          </a:xfrm>
          <a:prstGeom prst="rect">
            <a:avLst/>
          </a:prstGeom>
          <a:noFill/>
        </p:spPr>
        <p:txBody>
          <a:bodyPr wrap="none" lIns="0" tIns="0" rIns="0" bIns="0" anchor="t">
            <a:spAutoFit/>
          </a:bodyPr>
          <a:lstStyle/>
          <a:p>
            <a:pPr algn="ctr"/>
            <a:r>
              <a:rPr sz="1350" b="1" i="0" u="none">
                <a:solidFill>
                  <a:srgbClr val="0D9488"/>
                </a:solidFill>
                <a:latin typeface="DM Sans"/>
              </a:rPr>
              <a:t>5. TreeSHAP</a:t>
            </a:r>
          </a:p>
        </p:txBody>
      </p:sp>
      <p:sp>
        <p:nvSpPr>
          <p:cNvPr id="40" name="TextBox 39"/>
          <p:cNvSpPr txBox="1"/>
          <p:nvPr/>
        </p:nvSpPr>
        <p:spPr>
          <a:xfrm>
            <a:off x="9433805" y="2843212"/>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Feature weights</a:t>
            </a:r>
          </a:p>
        </p:txBody>
      </p:sp>
      <p:sp>
        <p:nvSpPr>
          <p:cNvPr id="41" name="TextBox 40"/>
          <p:cNvSpPr txBox="1"/>
          <p:nvPr/>
        </p:nvSpPr>
        <p:spPr>
          <a:xfrm>
            <a:off x="762483" y="4167187"/>
            <a:ext cx="1995413" cy="228600"/>
          </a:xfrm>
          <a:prstGeom prst="rect">
            <a:avLst/>
          </a:prstGeom>
          <a:noFill/>
        </p:spPr>
        <p:txBody>
          <a:bodyPr wrap="none" lIns="0" tIns="0" rIns="0" bIns="0" anchor="t">
            <a:spAutoFit/>
          </a:bodyPr>
          <a:lstStyle/>
          <a:p>
            <a:pPr algn="ctr"/>
            <a:r>
              <a:rPr sz="1350" b="1" i="0" u="none">
                <a:solidFill>
                  <a:srgbClr val="0F172A"/>
                </a:solidFill>
                <a:latin typeface="DM Sans"/>
              </a:rPr>
              <a:t>6. Top-3 Factors</a:t>
            </a:r>
          </a:p>
        </p:txBody>
      </p:sp>
      <p:sp>
        <p:nvSpPr>
          <p:cNvPr id="42" name="TextBox 41"/>
          <p:cNvSpPr txBox="1"/>
          <p:nvPr/>
        </p:nvSpPr>
        <p:spPr>
          <a:xfrm>
            <a:off x="762483" y="4433887"/>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Negative drivers</a:t>
            </a:r>
          </a:p>
        </p:txBody>
      </p:sp>
      <p:sp>
        <p:nvSpPr>
          <p:cNvPr id="43" name="TextBox 42"/>
          <p:cNvSpPr txBox="1"/>
          <p:nvPr/>
        </p:nvSpPr>
        <p:spPr>
          <a:xfrm>
            <a:off x="2930314" y="4167187"/>
            <a:ext cx="1995413" cy="228600"/>
          </a:xfrm>
          <a:prstGeom prst="rect">
            <a:avLst/>
          </a:prstGeom>
          <a:noFill/>
        </p:spPr>
        <p:txBody>
          <a:bodyPr wrap="none" lIns="0" tIns="0" rIns="0" bIns="0" anchor="t">
            <a:spAutoFit/>
          </a:bodyPr>
          <a:lstStyle/>
          <a:p>
            <a:pPr algn="ctr"/>
            <a:r>
              <a:rPr sz="1350" b="1" i="0" u="none">
                <a:solidFill>
                  <a:srgbClr val="0F172A"/>
                </a:solidFill>
                <a:latin typeface="DM Sans"/>
              </a:rPr>
              <a:t>7. Ranked Vector</a:t>
            </a:r>
          </a:p>
        </p:txBody>
      </p:sp>
      <p:sp>
        <p:nvSpPr>
          <p:cNvPr id="44" name="TextBox 43"/>
          <p:cNvSpPr txBox="1"/>
          <p:nvPr/>
        </p:nvSpPr>
        <p:spPr>
          <a:xfrm>
            <a:off x="2930314" y="4433887"/>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Structured JSON</a:t>
            </a:r>
          </a:p>
        </p:txBody>
      </p:sp>
      <p:sp>
        <p:nvSpPr>
          <p:cNvPr id="45" name="TextBox 44"/>
          <p:cNvSpPr txBox="1"/>
          <p:nvPr/>
        </p:nvSpPr>
        <p:spPr>
          <a:xfrm>
            <a:off x="5098144" y="4167187"/>
            <a:ext cx="1995413" cy="228600"/>
          </a:xfrm>
          <a:prstGeom prst="rect">
            <a:avLst/>
          </a:prstGeom>
          <a:noFill/>
        </p:spPr>
        <p:txBody>
          <a:bodyPr wrap="none" lIns="0" tIns="0" rIns="0" bIns="0" anchor="t">
            <a:spAutoFit/>
          </a:bodyPr>
          <a:lstStyle/>
          <a:p>
            <a:pPr algn="ctr"/>
            <a:r>
              <a:rPr sz="1350" b="1" i="0" u="none">
                <a:solidFill>
                  <a:srgbClr val="1E3A8A"/>
                </a:solidFill>
                <a:latin typeface="DM Sans"/>
              </a:rPr>
              <a:t>8. Local LLM</a:t>
            </a:r>
          </a:p>
        </p:txBody>
      </p:sp>
      <p:sp>
        <p:nvSpPr>
          <p:cNvPr id="46" name="TextBox 45"/>
          <p:cNvSpPr txBox="1"/>
          <p:nvPr/>
        </p:nvSpPr>
        <p:spPr>
          <a:xfrm>
            <a:off x="5098144" y="4433887"/>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Ollama zero-shot</a:t>
            </a:r>
          </a:p>
        </p:txBody>
      </p:sp>
      <p:sp>
        <p:nvSpPr>
          <p:cNvPr id="47" name="TextBox 46"/>
          <p:cNvSpPr txBox="1"/>
          <p:nvPr/>
        </p:nvSpPr>
        <p:spPr>
          <a:xfrm>
            <a:off x="7265975" y="4167187"/>
            <a:ext cx="1995413" cy="228600"/>
          </a:xfrm>
          <a:prstGeom prst="rect">
            <a:avLst/>
          </a:prstGeom>
          <a:noFill/>
        </p:spPr>
        <p:txBody>
          <a:bodyPr wrap="none" lIns="0" tIns="0" rIns="0" bIns="0" anchor="t">
            <a:spAutoFit/>
          </a:bodyPr>
          <a:lstStyle/>
          <a:p>
            <a:pPr algn="ctr"/>
            <a:r>
              <a:rPr sz="1350" b="1" i="0" u="none">
                <a:solidFill>
                  <a:srgbClr val="B45309"/>
                </a:solidFill>
                <a:latin typeface="DM Sans"/>
              </a:rPr>
              <a:t>9. Fidelity Check</a:t>
            </a:r>
          </a:p>
        </p:txBody>
      </p:sp>
      <p:sp>
        <p:nvSpPr>
          <p:cNvPr id="48" name="TextBox 47"/>
          <p:cNvSpPr txBox="1"/>
          <p:nvPr/>
        </p:nvSpPr>
        <p:spPr>
          <a:xfrm>
            <a:off x="7265975" y="4433887"/>
            <a:ext cx="1995413" cy="171450"/>
          </a:xfrm>
          <a:prstGeom prst="rect">
            <a:avLst/>
          </a:prstGeom>
          <a:noFill/>
        </p:spPr>
        <p:txBody>
          <a:bodyPr wrap="none" lIns="0" tIns="0" rIns="0" bIns="0" anchor="t">
            <a:spAutoFit/>
          </a:bodyPr>
          <a:lstStyle/>
          <a:p>
            <a:pPr algn="ctr"/>
            <a:r>
              <a:rPr sz="1050" b="0" i="0" u="none">
                <a:solidFill>
                  <a:srgbClr val="475569"/>
                </a:solidFill>
                <a:latin typeface="DM Sans"/>
              </a:rPr>
              <a:t>HER &amp; rank audit</a:t>
            </a:r>
          </a:p>
        </p:txBody>
      </p:sp>
      <p:sp>
        <p:nvSpPr>
          <p:cNvPr id="49" name="TextBox 48"/>
          <p:cNvSpPr txBox="1"/>
          <p:nvPr/>
        </p:nvSpPr>
        <p:spPr>
          <a:xfrm>
            <a:off x="9433805" y="4167187"/>
            <a:ext cx="1995413" cy="228600"/>
          </a:xfrm>
          <a:prstGeom prst="rect">
            <a:avLst/>
          </a:prstGeom>
          <a:noFill/>
        </p:spPr>
        <p:txBody>
          <a:bodyPr wrap="none" lIns="0" tIns="0" rIns="0" bIns="0" anchor="t">
            <a:spAutoFit/>
          </a:bodyPr>
          <a:lstStyle/>
          <a:p>
            <a:pPr algn="ctr"/>
            <a:r>
              <a:rPr sz="1350" b="1" i="0" u="none">
                <a:solidFill>
                  <a:srgbClr val="2DD4BF"/>
                </a:solidFill>
                <a:latin typeface="DM Sans"/>
              </a:rPr>
              <a:t>10. Notice Output</a:t>
            </a:r>
          </a:p>
        </p:txBody>
      </p:sp>
      <p:sp>
        <p:nvSpPr>
          <p:cNvPr id="50" name="TextBox 49"/>
          <p:cNvSpPr txBox="1"/>
          <p:nvPr/>
        </p:nvSpPr>
        <p:spPr>
          <a:xfrm>
            <a:off x="9433805" y="4433887"/>
            <a:ext cx="1995413" cy="171450"/>
          </a:xfrm>
          <a:prstGeom prst="rect">
            <a:avLst/>
          </a:prstGeom>
          <a:noFill/>
        </p:spPr>
        <p:txBody>
          <a:bodyPr wrap="none" lIns="0" tIns="0" rIns="0" bIns="0" anchor="t">
            <a:spAutoFit/>
          </a:bodyPr>
          <a:lstStyle/>
          <a:p>
            <a:pPr algn="ctr"/>
            <a:r>
              <a:rPr sz="1050" b="0" i="0" u="none">
                <a:solidFill>
                  <a:srgbClr val="F8FAFC"/>
                </a:solidFill>
                <a:latin typeface="DM Sans"/>
              </a:rPr>
              <a:t>English &amp; Hindi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07 • STUDY GOALS</a:t>
            </a:r>
          </a:p>
        </p:txBody>
      </p:sp>
      <p:sp>
        <p:nvSpPr>
          <p:cNvPr id="5" name="TextBox 4"/>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Proposed Research Objectives</a:t>
            </a:r>
          </a:p>
        </p:txBody>
      </p:sp>
      <p:sp>
        <p:nvSpPr>
          <p:cNvPr id="6" name="TextBox 5"/>
          <p:cNvSpPr txBox="1"/>
          <p:nvPr/>
        </p:nvSpPr>
        <p:spPr>
          <a:xfrm>
            <a:off x="609600" y="6267450"/>
            <a:ext cx="6274593" cy="171450"/>
          </a:xfrm>
          <a:prstGeom prst="rect">
            <a:avLst/>
          </a:prstGeom>
          <a:noFill/>
        </p:spPr>
        <p:txBody>
          <a:bodyPr wrap="none" lIns="0" tIns="0" rIns="0" bIns="0" anchor="t">
            <a:spAutoFit/>
          </a:bodyPr>
          <a:lstStyle/>
          <a:p>
            <a:pPr algn="l"/>
            <a:r>
              <a:rPr sz="1050" b="0" i="0" u="none">
                <a:solidFill>
                  <a:srgbClr val="475569"/>
                </a:solidFill>
                <a:latin typeface="DM Sans"/>
              </a:rPr>
              <a:t>Aligned with Desh Bhagat University Synopsis Section (f): Objectives of the Study.</a:t>
            </a:r>
          </a:p>
        </p:txBody>
      </p:sp>
      <p:sp>
        <p:nvSpPr>
          <p:cNvPr id="7" name="TextBox 6"/>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08</a:t>
            </a:r>
          </a:p>
        </p:txBody>
      </p:sp>
      <p:sp>
        <p:nvSpPr>
          <p:cNvPr id="8" name="TextBox 7"/>
          <p:cNvSpPr txBox="1"/>
          <p:nvPr/>
        </p:nvSpPr>
        <p:spPr>
          <a:xfrm>
            <a:off x="771525" y="2190750"/>
            <a:ext cx="104775" cy="266700"/>
          </a:xfrm>
          <a:prstGeom prst="rect">
            <a:avLst/>
          </a:prstGeom>
          <a:noFill/>
        </p:spPr>
        <p:txBody>
          <a:bodyPr wrap="none" lIns="0" tIns="0" rIns="0" bIns="0" anchor="t">
            <a:spAutoFit/>
          </a:bodyPr>
          <a:lstStyle/>
          <a:p>
            <a:pPr algn="l"/>
            <a:r>
              <a:rPr sz="1575" b="0" i="0" u="none">
                <a:solidFill>
                  <a:srgbClr val="0F172A"/>
                </a:solidFill>
                <a:latin typeface="DM Sans"/>
              </a:rPr>
              <a:t>1.</a:t>
            </a:r>
          </a:p>
        </p:txBody>
      </p:sp>
      <p:sp>
        <p:nvSpPr>
          <p:cNvPr id="9" name="TextBox 8"/>
          <p:cNvSpPr txBox="1"/>
          <p:nvPr/>
        </p:nvSpPr>
        <p:spPr>
          <a:xfrm>
            <a:off x="876300" y="2224087"/>
            <a:ext cx="10115550" cy="533400"/>
          </a:xfrm>
          <a:prstGeom prst="rect">
            <a:avLst/>
          </a:prstGeom>
          <a:noFill/>
        </p:spPr>
        <p:txBody>
          <a:bodyPr wrap="square" lIns="104775" tIns="0" rIns="0" bIns="0" anchor="t">
            <a:spAutoFit/>
          </a:bodyPr>
          <a:lstStyle/>
          <a:p>
            <a:pPr algn="l"/>
            <a:r>
              <a:rPr sz="1575" b="1" i="0" u="none">
                <a:solidFill>
                  <a:srgbClr val="0F172A"/>
                </a:solidFill>
                <a:latin typeface="DM Sans"/>
              </a:rPr>
              <a:t>Predictive Underwriter Component:</a:t>
            </a:r>
            <a:r>
              <a:rPr sz="1575" b="0" i="0" u="none">
                <a:solidFill>
                  <a:srgbClr val="0F172A"/>
                </a:solidFill>
                <a:latin typeface="DM Sans"/>
              </a:rPr>
              <a:t> Train non-linear gradient-boosted models on alternative credit datasets and extract ranked SHAP attributions for declined loans.</a:t>
            </a:r>
          </a:p>
        </p:txBody>
      </p:sp>
      <p:sp>
        <p:nvSpPr>
          <p:cNvPr id="10" name="TextBox 9"/>
          <p:cNvSpPr txBox="1"/>
          <p:nvPr/>
        </p:nvSpPr>
        <p:spPr>
          <a:xfrm>
            <a:off x="723900" y="2952750"/>
            <a:ext cx="152400" cy="266700"/>
          </a:xfrm>
          <a:prstGeom prst="rect">
            <a:avLst/>
          </a:prstGeom>
          <a:noFill/>
        </p:spPr>
        <p:txBody>
          <a:bodyPr wrap="none" lIns="0" tIns="0" rIns="0" bIns="0" anchor="t">
            <a:spAutoFit/>
          </a:bodyPr>
          <a:lstStyle/>
          <a:p>
            <a:pPr algn="l"/>
            <a:r>
              <a:rPr sz="1575" b="0" i="0" u="none">
                <a:solidFill>
                  <a:srgbClr val="0F172A"/>
                </a:solidFill>
                <a:latin typeface="DM Sans"/>
              </a:rPr>
              <a:t>2.</a:t>
            </a:r>
          </a:p>
        </p:txBody>
      </p:sp>
      <p:sp>
        <p:nvSpPr>
          <p:cNvPr id="11" name="TextBox 10"/>
          <p:cNvSpPr txBox="1"/>
          <p:nvPr/>
        </p:nvSpPr>
        <p:spPr>
          <a:xfrm>
            <a:off x="876300" y="2986087"/>
            <a:ext cx="10115550" cy="533400"/>
          </a:xfrm>
          <a:prstGeom prst="rect">
            <a:avLst/>
          </a:prstGeom>
          <a:noFill/>
        </p:spPr>
        <p:txBody>
          <a:bodyPr wrap="square" lIns="152400" tIns="0" rIns="0" bIns="0" anchor="t">
            <a:spAutoFit/>
          </a:bodyPr>
          <a:lstStyle/>
          <a:p>
            <a:pPr algn="l"/>
            <a:r>
              <a:rPr sz="1575" b="1" i="0" u="none">
                <a:solidFill>
                  <a:srgbClr val="0F172A"/>
                </a:solidFill>
                <a:latin typeface="DM Sans"/>
              </a:rPr>
              <a:t>Zero-Shot LLM Compliance Agent:</a:t>
            </a:r>
            <a:r>
              <a:rPr sz="1575" b="0" i="0" u="none">
                <a:solidFill>
                  <a:srgbClr val="0F172A"/>
                </a:solidFill>
                <a:latin typeface="DM Sans"/>
              </a:rPr>
              <a:t> Engineer a constrained local open-weight language model translating verified SHAP vectors into English and Hindi adverse action notices.</a:t>
            </a:r>
          </a:p>
        </p:txBody>
      </p:sp>
      <p:sp>
        <p:nvSpPr>
          <p:cNvPr id="12" name="TextBox 11"/>
          <p:cNvSpPr txBox="1"/>
          <p:nvPr/>
        </p:nvSpPr>
        <p:spPr>
          <a:xfrm>
            <a:off x="723900" y="3714750"/>
            <a:ext cx="152400" cy="266700"/>
          </a:xfrm>
          <a:prstGeom prst="rect">
            <a:avLst/>
          </a:prstGeom>
          <a:noFill/>
        </p:spPr>
        <p:txBody>
          <a:bodyPr wrap="none" lIns="0" tIns="0" rIns="0" bIns="0" anchor="t">
            <a:spAutoFit/>
          </a:bodyPr>
          <a:lstStyle/>
          <a:p>
            <a:pPr algn="l"/>
            <a:r>
              <a:rPr sz="1575" b="0" i="0" u="none">
                <a:solidFill>
                  <a:srgbClr val="0F172A"/>
                </a:solidFill>
                <a:latin typeface="DM Sans"/>
              </a:rPr>
              <a:t>3.</a:t>
            </a:r>
          </a:p>
        </p:txBody>
      </p:sp>
      <p:sp>
        <p:nvSpPr>
          <p:cNvPr id="13" name="TextBox 12"/>
          <p:cNvSpPr txBox="1"/>
          <p:nvPr/>
        </p:nvSpPr>
        <p:spPr>
          <a:xfrm>
            <a:off x="876300" y="3748087"/>
            <a:ext cx="10115550" cy="533400"/>
          </a:xfrm>
          <a:prstGeom prst="rect">
            <a:avLst/>
          </a:prstGeom>
          <a:noFill/>
        </p:spPr>
        <p:txBody>
          <a:bodyPr wrap="square" lIns="152400" tIns="0" rIns="0" bIns="0" anchor="t">
            <a:spAutoFit/>
          </a:bodyPr>
          <a:lstStyle/>
          <a:p>
            <a:pPr algn="l"/>
            <a:r>
              <a:rPr sz="1575" b="1" i="0" u="none">
                <a:solidFill>
                  <a:srgbClr val="0F172A"/>
                </a:solidFill>
                <a:latin typeface="DM Sans"/>
              </a:rPr>
              <a:t>Privacy-Preserving Edge Pipeline:</a:t>
            </a:r>
            <a:r>
              <a:rPr sz="1575" b="0" i="0" u="none">
                <a:solidFill>
                  <a:srgbClr val="0F172A"/>
                </a:solidFill>
                <a:latin typeface="DM Sans"/>
              </a:rPr>
              <a:t> Construct an API-independent multi-agent workflow keeping sensitive borrower records strictly within local infrastructure.</a:t>
            </a:r>
          </a:p>
        </p:txBody>
      </p:sp>
      <p:sp>
        <p:nvSpPr>
          <p:cNvPr id="14" name="TextBox 13"/>
          <p:cNvSpPr txBox="1"/>
          <p:nvPr/>
        </p:nvSpPr>
        <p:spPr>
          <a:xfrm>
            <a:off x="714375" y="4476750"/>
            <a:ext cx="161925" cy="266700"/>
          </a:xfrm>
          <a:prstGeom prst="rect">
            <a:avLst/>
          </a:prstGeom>
          <a:noFill/>
        </p:spPr>
        <p:txBody>
          <a:bodyPr wrap="none" lIns="0" tIns="0" rIns="0" bIns="0" anchor="t">
            <a:spAutoFit/>
          </a:bodyPr>
          <a:lstStyle/>
          <a:p>
            <a:pPr algn="l"/>
            <a:r>
              <a:rPr sz="1575" b="0" i="0" u="none">
                <a:solidFill>
                  <a:srgbClr val="0F172A"/>
                </a:solidFill>
                <a:latin typeface="DM Sans"/>
              </a:rPr>
              <a:t>4.</a:t>
            </a:r>
          </a:p>
        </p:txBody>
      </p:sp>
      <p:sp>
        <p:nvSpPr>
          <p:cNvPr id="15" name="TextBox 14"/>
          <p:cNvSpPr txBox="1"/>
          <p:nvPr/>
        </p:nvSpPr>
        <p:spPr>
          <a:xfrm>
            <a:off x="876300" y="4510087"/>
            <a:ext cx="10115550" cy="533400"/>
          </a:xfrm>
          <a:prstGeom prst="rect">
            <a:avLst/>
          </a:prstGeom>
          <a:noFill/>
        </p:spPr>
        <p:txBody>
          <a:bodyPr wrap="square" lIns="161925" tIns="0" rIns="0" bIns="0" anchor="t">
            <a:spAutoFit/>
          </a:bodyPr>
          <a:lstStyle/>
          <a:p>
            <a:pPr algn="l"/>
            <a:r>
              <a:rPr sz="1575" b="1" i="0" u="none">
                <a:solidFill>
                  <a:srgbClr val="0F172A"/>
                </a:solidFill>
                <a:latin typeface="DM Sans"/>
              </a:rPr>
              <a:t>Hallucination &amp; Compliance Validation:</a:t>
            </a:r>
            <a:r>
              <a:rPr sz="1575" b="0" i="0" u="none">
                <a:solidFill>
                  <a:srgbClr val="0F172A"/>
                </a:solidFill>
                <a:latin typeface="DM Sans"/>
              </a:rPr>
              <a:t> Evaluate generated notices against original SHAP rankings and expert benchmarks using statistical concordance and human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047875"/>
            <a:ext cx="5334000" cy="3171825"/>
          </a:xfrm>
          <a:prstGeom prst="roundRect">
            <a:avLst>
              <a:gd name="adj" fmla="val 360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248400" y="2047875"/>
            <a:ext cx="5334000" cy="3171825"/>
          </a:xfrm>
          <a:prstGeom prst="roundRect">
            <a:avLst>
              <a:gd name="adj" fmla="val 3603"/>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61436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D97706"/>
                </a:solidFill>
                <a:latin typeface="IBM Plex Mono"/>
              </a:rPr>
              <a:t>08 • SCIENTIFIC INQUIRY</a:t>
            </a:r>
          </a:p>
        </p:txBody>
      </p:sp>
      <p:sp>
        <p:nvSpPr>
          <p:cNvPr id="7" name="TextBox 6"/>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Research Questions &amp; Hypotheses</a:t>
            </a:r>
          </a:p>
        </p:txBody>
      </p:sp>
      <p:sp>
        <p:nvSpPr>
          <p:cNvPr id="8" name="TextBox 7"/>
          <p:cNvSpPr txBox="1"/>
          <p:nvPr/>
        </p:nvSpPr>
        <p:spPr>
          <a:xfrm>
            <a:off x="609600" y="6267450"/>
            <a:ext cx="7843614" cy="171450"/>
          </a:xfrm>
          <a:prstGeom prst="rect">
            <a:avLst/>
          </a:prstGeom>
          <a:noFill/>
        </p:spPr>
        <p:txBody>
          <a:bodyPr wrap="none" lIns="0" tIns="0" rIns="0" bIns="0" anchor="t">
            <a:spAutoFit/>
          </a:bodyPr>
          <a:lstStyle/>
          <a:p>
            <a:pPr algn="l"/>
            <a:r>
              <a:rPr sz="1050" b="0" i="0" u="none">
                <a:solidFill>
                  <a:srgbClr val="475569"/>
                </a:solidFill>
                <a:latin typeface="DM Sans"/>
              </a:rPr>
              <a:t>Proposed hypothesis testing at α = 0.01 significance threshold across n ≥ 1,000 declined applications.</a:t>
            </a:r>
          </a:p>
        </p:txBody>
      </p:sp>
      <p:sp>
        <p:nvSpPr>
          <p:cNvPr id="9" name="TextBox 8"/>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09</a:t>
            </a:r>
          </a:p>
        </p:txBody>
      </p:sp>
      <p:sp>
        <p:nvSpPr>
          <p:cNvPr id="10" name="TextBox 9"/>
          <p:cNvSpPr txBox="1"/>
          <p:nvPr/>
        </p:nvSpPr>
        <p:spPr>
          <a:xfrm>
            <a:off x="885825" y="2324100"/>
            <a:ext cx="6275784" cy="276225"/>
          </a:xfrm>
          <a:prstGeom prst="rect">
            <a:avLst/>
          </a:prstGeom>
          <a:noFill/>
        </p:spPr>
        <p:txBody>
          <a:bodyPr wrap="none" lIns="0" tIns="0" rIns="0" bIns="0" anchor="t">
            <a:spAutoFit/>
          </a:bodyPr>
          <a:lstStyle/>
          <a:p>
            <a:pPr algn="l"/>
            <a:r>
              <a:rPr sz="1650" b="1" i="0" u="none">
                <a:solidFill>
                  <a:srgbClr val="1E3A8A"/>
                </a:solidFill>
                <a:latin typeface="DM Sans"/>
              </a:rPr>
              <a:t>Research Questions</a:t>
            </a:r>
          </a:p>
        </p:txBody>
      </p:sp>
      <p:sp>
        <p:nvSpPr>
          <p:cNvPr id="11" name="TextBox 10"/>
          <p:cNvSpPr txBox="1"/>
          <p:nvPr/>
        </p:nvSpPr>
        <p:spPr>
          <a:xfrm>
            <a:off x="6524625" y="2324100"/>
            <a:ext cx="5667375" cy="276225"/>
          </a:xfrm>
          <a:prstGeom prst="rect">
            <a:avLst/>
          </a:prstGeom>
          <a:noFill/>
        </p:spPr>
        <p:txBody>
          <a:bodyPr wrap="none" lIns="0" tIns="0" rIns="0" bIns="0" anchor="t">
            <a:spAutoFit/>
          </a:bodyPr>
          <a:lstStyle/>
          <a:p>
            <a:pPr algn="l"/>
            <a:r>
              <a:rPr sz="1650" b="1" i="0" u="none">
                <a:solidFill>
                  <a:srgbClr val="0F172A"/>
                </a:solidFill>
                <a:latin typeface="DM Sans"/>
              </a:rPr>
              <a:t>Testable Hypotheses</a:t>
            </a:r>
          </a:p>
        </p:txBody>
      </p:sp>
      <p:sp>
        <p:nvSpPr>
          <p:cNvPr id="12" name="TextBox 11"/>
          <p:cNvSpPr txBox="1"/>
          <p:nvPr/>
        </p:nvSpPr>
        <p:spPr>
          <a:xfrm>
            <a:off x="885825" y="2790825"/>
            <a:ext cx="4876800" cy="238125"/>
          </a:xfrm>
          <a:prstGeom prst="rect">
            <a:avLst/>
          </a:prstGeom>
          <a:noFill/>
        </p:spPr>
        <p:txBody>
          <a:bodyPr wrap="square" lIns="0" tIns="0" rIns="0" bIns="0" anchor="t">
            <a:spAutoFit/>
          </a:bodyPr>
          <a:lstStyle/>
          <a:p>
            <a:pPr algn="l"/>
            <a:r>
              <a:rPr sz="1125" b="1" i="0" u="none">
                <a:solidFill>
                  <a:srgbClr val="0D9488"/>
                </a:solidFill>
                <a:latin typeface="IBM Plex Mono"/>
              </a:rPr>
              <a:t>RQ1 • FAITHFUL TRANSLATION</a:t>
            </a:r>
          </a:p>
        </p:txBody>
      </p:sp>
      <p:sp>
        <p:nvSpPr>
          <p:cNvPr id="13" name="TextBox 12"/>
          <p:cNvSpPr txBox="1"/>
          <p:nvPr/>
        </p:nvSpPr>
        <p:spPr>
          <a:xfrm>
            <a:off x="885825" y="3086100"/>
            <a:ext cx="4876800" cy="685800"/>
          </a:xfrm>
          <a:prstGeom prst="rect">
            <a:avLst/>
          </a:prstGeom>
          <a:noFill/>
        </p:spPr>
        <p:txBody>
          <a:bodyPr wrap="square" lIns="0" tIns="0" rIns="0" bIns="0" anchor="t">
            <a:spAutoFit/>
          </a:bodyPr>
          <a:lstStyle/>
          <a:p>
            <a:pPr algn="l"/>
            <a:r>
              <a:rPr sz="1350" b="0" i="0" u="none">
                <a:solidFill>
                  <a:srgbClr val="1E293B"/>
                </a:solidFill>
                <a:latin typeface="DM Sans"/>
              </a:rPr>
              <a:t>How can post-hoc SHAP vectors be automatically translated into RBI-aligned borrower notices while minimizing unsupported reasons?</a:t>
            </a:r>
          </a:p>
        </p:txBody>
      </p:sp>
      <p:sp>
        <p:nvSpPr>
          <p:cNvPr id="14" name="TextBox 13"/>
          <p:cNvSpPr txBox="1"/>
          <p:nvPr/>
        </p:nvSpPr>
        <p:spPr>
          <a:xfrm>
            <a:off x="885825" y="3962400"/>
            <a:ext cx="4876800" cy="238125"/>
          </a:xfrm>
          <a:prstGeom prst="rect">
            <a:avLst/>
          </a:prstGeom>
          <a:noFill/>
        </p:spPr>
        <p:txBody>
          <a:bodyPr wrap="square" lIns="0" tIns="0" rIns="0" bIns="0" anchor="t">
            <a:spAutoFit/>
          </a:bodyPr>
          <a:lstStyle/>
          <a:p>
            <a:pPr algn="l"/>
            <a:r>
              <a:rPr sz="1125" b="1" i="0" u="none">
                <a:solidFill>
                  <a:srgbClr val="0D9488"/>
                </a:solidFill>
                <a:latin typeface="IBM Plex Mono"/>
              </a:rPr>
              <a:t>RQ2 • BILINGUAL FIDELITY</a:t>
            </a:r>
          </a:p>
        </p:txBody>
      </p:sp>
      <p:sp>
        <p:nvSpPr>
          <p:cNvPr id="15" name="TextBox 14"/>
          <p:cNvSpPr txBox="1"/>
          <p:nvPr/>
        </p:nvSpPr>
        <p:spPr>
          <a:xfrm>
            <a:off x="885825" y="4257675"/>
            <a:ext cx="4876800" cy="685800"/>
          </a:xfrm>
          <a:prstGeom prst="rect">
            <a:avLst/>
          </a:prstGeom>
          <a:noFill/>
        </p:spPr>
        <p:txBody>
          <a:bodyPr wrap="square" lIns="0" tIns="0" rIns="0" bIns="0" anchor="t">
            <a:spAutoFit/>
          </a:bodyPr>
          <a:lstStyle/>
          <a:p>
            <a:pPr algn="l"/>
            <a:r>
              <a:rPr sz="1350" b="0" i="0" u="none">
                <a:solidFill>
                  <a:srgbClr val="1E293B"/>
                </a:solidFill>
                <a:latin typeface="DM Sans"/>
              </a:rPr>
              <a:t>Do SHAP-guided narratives preserve mathematical rank order and regulatory clarity across English and Hindi outputs?</a:t>
            </a:r>
          </a:p>
        </p:txBody>
      </p:sp>
      <p:sp>
        <p:nvSpPr>
          <p:cNvPr id="16" name="TextBox 15"/>
          <p:cNvSpPr txBox="1"/>
          <p:nvPr/>
        </p:nvSpPr>
        <p:spPr>
          <a:xfrm>
            <a:off x="6524625" y="2790825"/>
            <a:ext cx="4876800" cy="238125"/>
          </a:xfrm>
          <a:prstGeom prst="rect">
            <a:avLst/>
          </a:prstGeom>
          <a:noFill/>
        </p:spPr>
        <p:txBody>
          <a:bodyPr wrap="square" lIns="0" tIns="0" rIns="0" bIns="0" anchor="t">
            <a:spAutoFit/>
          </a:bodyPr>
          <a:lstStyle/>
          <a:p>
            <a:pPr algn="l"/>
            <a:r>
              <a:rPr sz="1125" b="1" i="0" u="none">
                <a:solidFill>
                  <a:srgbClr val="D97706"/>
                </a:solidFill>
                <a:latin typeface="IBM Plex Mono"/>
              </a:rPr>
              <a:t>HYPOTHESIS SET 1 (RANK CONCORDANCE)</a:t>
            </a:r>
          </a:p>
        </p:txBody>
      </p:sp>
      <p:sp>
        <p:nvSpPr>
          <p:cNvPr id="17" name="TextBox 16"/>
          <p:cNvSpPr txBox="1"/>
          <p:nvPr/>
        </p:nvSpPr>
        <p:spPr>
          <a:xfrm>
            <a:off x="6524625" y="3086100"/>
            <a:ext cx="4876800" cy="685800"/>
          </a:xfrm>
          <a:prstGeom prst="rect">
            <a:avLst/>
          </a:prstGeom>
          <a:noFill/>
        </p:spPr>
        <p:txBody>
          <a:bodyPr wrap="square" lIns="0" tIns="0" rIns="0" bIns="0" anchor="t">
            <a:spAutoFit/>
          </a:bodyPr>
          <a:lstStyle/>
          <a:p>
            <a:pPr algn="l"/>
            <a:r>
              <a:rPr sz="1350" b="1" i="0" u="none">
                <a:solidFill>
                  <a:srgbClr val="1E293B"/>
                </a:solidFill>
                <a:latin typeface="DM Sans"/>
              </a:rPr>
              <a:t>H1 (vs. H0_1):</a:t>
            </a:r>
            <a:r>
              <a:rPr sz="1350" b="0" i="0" u="none">
                <a:solidFill>
                  <a:srgbClr val="1E293B"/>
                </a:solidFill>
                <a:latin typeface="DM Sans"/>
              </a:rPr>
              <a:t> SHAP-constrained Compliance Agent narratives exhibit statistically significant positive rank correlation with model attributions.</a:t>
            </a:r>
          </a:p>
        </p:txBody>
      </p:sp>
      <p:sp>
        <p:nvSpPr>
          <p:cNvPr id="18" name="TextBox 17"/>
          <p:cNvSpPr txBox="1"/>
          <p:nvPr/>
        </p:nvSpPr>
        <p:spPr>
          <a:xfrm>
            <a:off x="6524625" y="3962400"/>
            <a:ext cx="4876800" cy="238125"/>
          </a:xfrm>
          <a:prstGeom prst="rect">
            <a:avLst/>
          </a:prstGeom>
          <a:noFill/>
        </p:spPr>
        <p:txBody>
          <a:bodyPr wrap="square" lIns="0" tIns="0" rIns="0" bIns="0" anchor="t">
            <a:spAutoFit/>
          </a:bodyPr>
          <a:lstStyle/>
          <a:p>
            <a:pPr algn="l"/>
            <a:r>
              <a:rPr sz="1125" b="1" i="0" u="none">
                <a:solidFill>
                  <a:srgbClr val="D97706"/>
                </a:solidFill>
                <a:latin typeface="IBM Plex Mono"/>
              </a:rPr>
              <a:t>HYPOTHESIS SET 2 (LINGUISTIC ALIGNMENT)</a:t>
            </a:r>
          </a:p>
        </p:txBody>
      </p:sp>
      <p:sp>
        <p:nvSpPr>
          <p:cNvPr id="19" name="TextBox 18"/>
          <p:cNvSpPr txBox="1"/>
          <p:nvPr/>
        </p:nvSpPr>
        <p:spPr>
          <a:xfrm>
            <a:off x="6524625" y="4257675"/>
            <a:ext cx="4876800" cy="685800"/>
          </a:xfrm>
          <a:prstGeom prst="rect">
            <a:avLst/>
          </a:prstGeom>
          <a:noFill/>
        </p:spPr>
        <p:txBody>
          <a:bodyPr wrap="square" lIns="0" tIns="0" rIns="0" bIns="0" anchor="t">
            <a:spAutoFit/>
          </a:bodyPr>
          <a:lstStyle/>
          <a:p>
            <a:pPr algn="l"/>
            <a:r>
              <a:rPr sz="1350" b="1" i="0" u="none">
                <a:solidFill>
                  <a:srgbClr val="1E293B"/>
                </a:solidFill>
                <a:latin typeface="DM Sans"/>
              </a:rPr>
              <a:t>H2 (vs. H0_2):</a:t>
            </a:r>
            <a:r>
              <a:rPr sz="1350" b="0" i="0" u="none">
                <a:solidFill>
                  <a:srgbClr val="1E293B"/>
                </a:solidFill>
                <a:latin typeface="DM Sans"/>
              </a:rPr>
              <a:t> Local open-weight agent orchestration achieves strong lexical and semantic alignment with expert compliance templates.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205037"/>
            <a:ext cx="3479750" cy="2857500"/>
          </a:xfrm>
          <a:prstGeom prst="roundRect">
            <a:avLst>
              <a:gd name="adj" fmla="val 4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56050" y="2205037"/>
            <a:ext cx="3479750" cy="2857500"/>
          </a:xfrm>
          <a:prstGeom prst="roundRect">
            <a:avLst>
              <a:gd name="adj" fmla="val 4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102500" y="2319337"/>
            <a:ext cx="3479750" cy="2628900"/>
          </a:xfrm>
          <a:prstGeom prst="roundRect">
            <a:avLst>
              <a:gd name="adj" fmla="val 43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09 • RESEARCH DESIGN</a:t>
            </a:r>
          </a:p>
        </p:txBody>
      </p:sp>
      <p:sp>
        <p:nvSpPr>
          <p:cNvPr id="8" name="TextBox 7"/>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Experimental Methodology</a:t>
            </a:r>
          </a:p>
        </p:txBody>
      </p:sp>
      <p:sp>
        <p:nvSpPr>
          <p:cNvPr id="9" name="TextBox 8"/>
          <p:cNvSpPr txBox="1"/>
          <p:nvPr/>
        </p:nvSpPr>
        <p:spPr>
          <a:xfrm>
            <a:off x="609600" y="6267450"/>
            <a:ext cx="6572250" cy="171450"/>
          </a:xfrm>
          <a:prstGeom prst="rect">
            <a:avLst/>
          </a:prstGeom>
          <a:noFill/>
        </p:spPr>
        <p:txBody>
          <a:bodyPr wrap="none" lIns="0" tIns="0" rIns="0" bIns="0" anchor="t">
            <a:spAutoFit/>
          </a:bodyPr>
          <a:lstStyle/>
          <a:p>
            <a:pPr algn="l"/>
            <a:r>
              <a:rPr sz="1050" b="0" i="0" u="none">
                <a:solidFill>
                  <a:srgbClr val="475569"/>
                </a:solidFill>
                <a:latin typeface="DM Sans"/>
              </a:rPr>
              <a:t>Software Stack: Python 3.x, Scikit-Learn, SHAP, Ollama (Llama-3 / Mistral), LangChain.</a:t>
            </a:r>
          </a:p>
        </p:txBody>
      </p:sp>
      <p:sp>
        <p:nvSpPr>
          <p:cNvPr id="10" name="TextBox 9"/>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10</a:t>
            </a:r>
          </a:p>
        </p:txBody>
      </p:sp>
      <p:sp>
        <p:nvSpPr>
          <p:cNvPr id="11" name="TextBox 10"/>
          <p:cNvSpPr txBox="1"/>
          <p:nvPr/>
        </p:nvSpPr>
        <p:spPr>
          <a:xfrm>
            <a:off x="904875" y="2500312"/>
            <a:ext cx="2984450" cy="219075"/>
          </a:xfrm>
          <a:prstGeom prst="rect">
            <a:avLst/>
          </a:prstGeom>
          <a:noFill/>
        </p:spPr>
        <p:txBody>
          <a:bodyPr wrap="square" lIns="0" tIns="0" rIns="0" bIns="0" anchor="t">
            <a:spAutoFit/>
          </a:bodyPr>
          <a:lstStyle/>
          <a:p>
            <a:pPr algn="l"/>
            <a:r>
              <a:rPr sz="1050" b="1" i="0" u="none">
                <a:solidFill>
                  <a:srgbClr val="1E3A8A"/>
                </a:solidFill>
                <a:latin typeface="IBM Plex Mono"/>
              </a:rPr>
              <a:t>PHASE 1 • DATA &amp; SAMPLING</a:t>
            </a:r>
          </a:p>
        </p:txBody>
      </p:sp>
      <p:sp>
        <p:nvSpPr>
          <p:cNvPr id="12" name="TextBox 11"/>
          <p:cNvSpPr txBox="1"/>
          <p:nvPr/>
        </p:nvSpPr>
        <p:spPr>
          <a:xfrm>
            <a:off x="904875" y="2795587"/>
            <a:ext cx="3792075" cy="276225"/>
          </a:xfrm>
          <a:prstGeom prst="rect">
            <a:avLst/>
          </a:prstGeom>
          <a:noFill/>
        </p:spPr>
        <p:txBody>
          <a:bodyPr wrap="none" lIns="0" tIns="0" rIns="0" bIns="0" anchor="t">
            <a:spAutoFit/>
          </a:bodyPr>
          <a:lstStyle/>
          <a:p>
            <a:pPr algn="l"/>
            <a:r>
              <a:rPr sz="1650" b="1" i="0" u="none">
                <a:solidFill>
                  <a:srgbClr val="0F172A"/>
                </a:solidFill>
                <a:latin typeface="DM Sans"/>
              </a:rPr>
              <a:t>Benchmark Cohort</a:t>
            </a:r>
          </a:p>
        </p:txBody>
      </p:sp>
      <p:sp>
        <p:nvSpPr>
          <p:cNvPr id="13" name="TextBox 12"/>
          <p:cNvSpPr txBox="1"/>
          <p:nvPr/>
        </p:nvSpPr>
        <p:spPr>
          <a:xfrm>
            <a:off x="4651325" y="2500312"/>
            <a:ext cx="2984450" cy="219075"/>
          </a:xfrm>
          <a:prstGeom prst="rect">
            <a:avLst/>
          </a:prstGeom>
          <a:noFill/>
        </p:spPr>
        <p:txBody>
          <a:bodyPr wrap="square" lIns="0" tIns="0" rIns="0" bIns="0" anchor="t">
            <a:spAutoFit/>
          </a:bodyPr>
          <a:lstStyle/>
          <a:p>
            <a:pPr algn="l"/>
            <a:r>
              <a:rPr sz="1050" b="1" i="0" u="none">
                <a:solidFill>
                  <a:srgbClr val="0D9488"/>
                </a:solidFill>
                <a:latin typeface="IBM Plex Mono"/>
              </a:rPr>
              <a:t>PHASE 2 • DETERMINISTIC XAI</a:t>
            </a:r>
          </a:p>
        </p:txBody>
      </p:sp>
      <p:sp>
        <p:nvSpPr>
          <p:cNvPr id="14" name="TextBox 13"/>
          <p:cNvSpPr txBox="1"/>
          <p:nvPr/>
        </p:nvSpPr>
        <p:spPr>
          <a:xfrm>
            <a:off x="4651325" y="2795587"/>
            <a:ext cx="3792075" cy="276225"/>
          </a:xfrm>
          <a:prstGeom prst="rect">
            <a:avLst/>
          </a:prstGeom>
          <a:noFill/>
        </p:spPr>
        <p:txBody>
          <a:bodyPr wrap="none" lIns="0" tIns="0" rIns="0" bIns="0" anchor="t">
            <a:spAutoFit/>
          </a:bodyPr>
          <a:lstStyle/>
          <a:p>
            <a:pPr algn="l"/>
            <a:r>
              <a:rPr sz="1650" b="1" i="0" u="none">
                <a:solidFill>
                  <a:srgbClr val="0F172A"/>
                </a:solidFill>
                <a:latin typeface="DM Sans"/>
              </a:rPr>
              <a:t>Underwriter Scoring</a:t>
            </a:r>
          </a:p>
        </p:txBody>
      </p:sp>
      <p:sp>
        <p:nvSpPr>
          <p:cNvPr id="15" name="TextBox 14"/>
          <p:cNvSpPr txBox="1"/>
          <p:nvPr/>
        </p:nvSpPr>
        <p:spPr>
          <a:xfrm>
            <a:off x="8397775" y="2614612"/>
            <a:ext cx="2984450" cy="219075"/>
          </a:xfrm>
          <a:prstGeom prst="rect">
            <a:avLst/>
          </a:prstGeom>
          <a:noFill/>
        </p:spPr>
        <p:txBody>
          <a:bodyPr wrap="square" lIns="0" tIns="0" rIns="0" bIns="0" anchor="t">
            <a:spAutoFit/>
          </a:bodyPr>
          <a:lstStyle/>
          <a:p>
            <a:pPr algn="l"/>
            <a:r>
              <a:rPr sz="1050" b="1" i="0" u="none">
                <a:solidFill>
                  <a:srgbClr val="D97706"/>
                </a:solidFill>
                <a:latin typeface="IBM Plex Mono"/>
              </a:rPr>
              <a:t>PHASE 3 • GENERATIVE EDGE</a:t>
            </a:r>
          </a:p>
        </p:txBody>
      </p:sp>
      <p:sp>
        <p:nvSpPr>
          <p:cNvPr id="16" name="TextBox 15"/>
          <p:cNvSpPr txBox="1"/>
          <p:nvPr/>
        </p:nvSpPr>
        <p:spPr>
          <a:xfrm>
            <a:off x="8397775" y="2909887"/>
            <a:ext cx="3792075" cy="276225"/>
          </a:xfrm>
          <a:prstGeom prst="rect">
            <a:avLst/>
          </a:prstGeom>
          <a:noFill/>
        </p:spPr>
        <p:txBody>
          <a:bodyPr wrap="none" lIns="0" tIns="0" rIns="0" bIns="0" anchor="t">
            <a:spAutoFit/>
          </a:bodyPr>
          <a:lstStyle/>
          <a:p>
            <a:pPr algn="l"/>
            <a:r>
              <a:rPr sz="1650" b="1" i="0" u="none">
                <a:solidFill>
                  <a:srgbClr val="0F172A"/>
                </a:solidFill>
                <a:latin typeface="DM Sans"/>
              </a:rPr>
              <a:t>Compliance Synthesis</a:t>
            </a:r>
          </a:p>
        </p:txBody>
      </p:sp>
      <p:sp>
        <p:nvSpPr>
          <p:cNvPr id="17" name="TextBox 16"/>
          <p:cNvSpPr txBox="1"/>
          <p:nvPr/>
        </p:nvSpPr>
        <p:spPr>
          <a:xfrm>
            <a:off x="1038225" y="317658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18" name="TextBox 17"/>
          <p:cNvSpPr txBox="1"/>
          <p:nvPr/>
        </p:nvSpPr>
        <p:spPr>
          <a:xfrm>
            <a:off x="1095375" y="320516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Dataset:</a:t>
            </a:r>
            <a:r>
              <a:rPr sz="1350" b="0" i="0" u="none">
                <a:solidFill>
                  <a:srgbClr val="334155"/>
                </a:solidFill>
                <a:latin typeface="DM Sans"/>
              </a:rPr>
              <a:t> Home Credit Default Risk</a:t>
            </a:r>
          </a:p>
        </p:txBody>
      </p:sp>
      <p:sp>
        <p:nvSpPr>
          <p:cNvPr id="19" name="TextBox 18"/>
          <p:cNvSpPr txBox="1"/>
          <p:nvPr/>
        </p:nvSpPr>
        <p:spPr>
          <a:xfrm>
            <a:off x="1038225" y="372903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20" name="TextBox 19"/>
          <p:cNvSpPr txBox="1"/>
          <p:nvPr/>
        </p:nvSpPr>
        <p:spPr>
          <a:xfrm>
            <a:off x="1095375" y="375761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Sample:</a:t>
            </a:r>
            <a:r>
              <a:rPr sz="1350" b="0" i="0" u="none">
                <a:solidFill>
                  <a:srgbClr val="334155"/>
                </a:solidFill>
                <a:latin typeface="DM Sans"/>
              </a:rPr>
              <a:t> 1,000 declined applications</a:t>
            </a:r>
          </a:p>
        </p:txBody>
      </p:sp>
      <p:sp>
        <p:nvSpPr>
          <p:cNvPr id="21" name="TextBox 20"/>
          <p:cNvSpPr txBox="1"/>
          <p:nvPr/>
        </p:nvSpPr>
        <p:spPr>
          <a:xfrm>
            <a:off x="1038225" y="428148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22" name="TextBox 21"/>
          <p:cNvSpPr txBox="1"/>
          <p:nvPr/>
        </p:nvSpPr>
        <p:spPr>
          <a:xfrm>
            <a:off x="1095375" y="431006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Pipeline:</a:t>
            </a:r>
            <a:r>
              <a:rPr sz="1350" b="0" i="0" u="none">
                <a:solidFill>
                  <a:srgbClr val="334155"/>
                </a:solidFill>
                <a:latin typeface="DM Sans"/>
              </a:rPr>
              <a:t> Imputation plus feature scaling</a:t>
            </a:r>
          </a:p>
        </p:txBody>
      </p:sp>
      <p:sp>
        <p:nvSpPr>
          <p:cNvPr id="23" name="TextBox 22"/>
          <p:cNvSpPr txBox="1"/>
          <p:nvPr/>
        </p:nvSpPr>
        <p:spPr>
          <a:xfrm>
            <a:off x="4784675" y="317658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24" name="TextBox 23"/>
          <p:cNvSpPr txBox="1"/>
          <p:nvPr/>
        </p:nvSpPr>
        <p:spPr>
          <a:xfrm>
            <a:off x="4841825" y="320516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Classifiers:</a:t>
            </a:r>
            <a:r>
              <a:rPr sz="1350" b="0" i="0" u="none">
                <a:solidFill>
                  <a:srgbClr val="334155"/>
                </a:solidFill>
                <a:latin typeface="DM Sans"/>
              </a:rPr>
              <a:t> XGBoost plus LightGBM</a:t>
            </a:r>
          </a:p>
        </p:txBody>
      </p:sp>
      <p:sp>
        <p:nvSpPr>
          <p:cNvPr id="25" name="TextBox 24"/>
          <p:cNvSpPr txBox="1"/>
          <p:nvPr/>
        </p:nvSpPr>
        <p:spPr>
          <a:xfrm>
            <a:off x="4784675" y="372903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26" name="TextBox 25"/>
          <p:cNvSpPr txBox="1"/>
          <p:nvPr/>
        </p:nvSpPr>
        <p:spPr>
          <a:xfrm>
            <a:off x="4841825" y="375761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Explainer:</a:t>
            </a:r>
            <a:r>
              <a:rPr sz="1350" b="0" i="0" u="none">
                <a:solidFill>
                  <a:srgbClr val="334155"/>
                </a:solidFill>
                <a:latin typeface="DM Sans"/>
              </a:rPr>
              <a:t> Exact TreeSHAP computation</a:t>
            </a:r>
          </a:p>
        </p:txBody>
      </p:sp>
      <p:sp>
        <p:nvSpPr>
          <p:cNvPr id="27" name="TextBox 26"/>
          <p:cNvSpPr txBox="1"/>
          <p:nvPr/>
        </p:nvSpPr>
        <p:spPr>
          <a:xfrm>
            <a:off x="4784675" y="428148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28" name="TextBox 27"/>
          <p:cNvSpPr txBox="1"/>
          <p:nvPr/>
        </p:nvSpPr>
        <p:spPr>
          <a:xfrm>
            <a:off x="4841825" y="431006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Output:</a:t>
            </a:r>
            <a:r>
              <a:rPr sz="1350" b="0" i="0" u="none">
                <a:solidFill>
                  <a:srgbClr val="334155"/>
                </a:solidFill>
                <a:latin typeface="DM Sans"/>
              </a:rPr>
              <a:t> Top-3 negative JSON vector</a:t>
            </a:r>
          </a:p>
        </p:txBody>
      </p:sp>
      <p:sp>
        <p:nvSpPr>
          <p:cNvPr id="29" name="TextBox 28"/>
          <p:cNvSpPr txBox="1"/>
          <p:nvPr/>
        </p:nvSpPr>
        <p:spPr>
          <a:xfrm>
            <a:off x="8531125" y="329088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30" name="TextBox 29"/>
          <p:cNvSpPr txBox="1"/>
          <p:nvPr/>
        </p:nvSpPr>
        <p:spPr>
          <a:xfrm>
            <a:off x="8588275" y="331946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Runtime:</a:t>
            </a:r>
            <a:r>
              <a:rPr sz="1350" b="0" i="0" u="none">
                <a:solidFill>
                  <a:srgbClr val="334155"/>
                </a:solidFill>
                <a:latin typeface="DM Sans"/>
              </a:rPr>
              <a:t> Local Ollama open-weight LLM</a:t>
            </a:r>
          </a:p>
        </p:txBody>
      </p:sp>
      <p:sp>
        <p:nvSpPr>
          <p:cNvPr id="31" name="TextBox 30"/>
          <p:cNvSpPr txBox="1"/>
          <p:nvPr/>
        </p:nvSpPr>
        <p:spPr>
          <a:xfrm>
            <a:off x="8531125" y="384333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32" name="TextBox 31"/>
          <p:cNvSpPr txBox="1"/>
          <p:nvPr/>
        </p:nvSpPr>
        <p:spPr>
          <a:xfrm>
            <a:off x="8588275" y="3871912"/>
            <a:ext cx="2793950" cy="457200"/>
          </a:xfrm>
          <a:prstGeom prst="rect">
            <a:avLst/>
          </a:prstGeom>
          <a:noFill/>
        </p:spPr>
        <p:txBody>
          <a:bodyPr wrap="square" lIns="57150" tIns="0" rIns="0" bIns="0" anchor="t">
            <a:spAutoFit/>
          </a:bodyPr>
          <a:lstStyle/>
          <a:p>
            <a:pPr algn="l"/>
            <a:r>
              <a:rPr sz="1350" b="1" i="0" u="none">
                <a:solidFill>
                  <a:srgbClr val="334155"/>
                </a:solidFill>
                <a:latin typeface="DM Sans"/>
              </a:rPr>
              <a:t>Control:</a:t>
            </a:r>
            <a:r>
              <a:rPr sz="1350" b="0" i="0" u="none">
                <a:solidFill>
                  <a:srgbClr val="334155"/>
                </a:solidFill>
                <a:latin typeface="DM Sans"/>
              </a:rPr>
              <a:t> Zero-shot schema constraint</a:t>
            </a:r>
          </a:p>
        </p:txBody>
      </p:sp>
      <p:sp>
        <p:nvSpPr>
          <p:cNvPr id="33" name="TextBox 32"/>
          <p:cNvSpPr txBox="1"/>
          <p:nvPr/>
        </p:nvSpPr>
        <p:spPr>
          <a:xfrm>
            <a:off x="8531125" y="4395787"/>
            <a:ext cx="57150" cy="228600"/>
          </a:xfrm>
          <a:prstGeom prst="rect">
            <a:avLst/>
          </a:prstGeom>
          <a:noFill/>
        </p:spPr>
        <p:txBody>
          <a:bodyPr wrap="none" lIns="0" tIns="0" rIns="0" bIns="0" anchor="t">
            <a:spAutoFit/>
          </a:bodyPr>
          <a:lstStyle/>
          <a:p>
            <a:pPr algn="l"/>
            <a:r>
              <a:rPr sz="1350" b="0" i="0" u="none">
                <a:solidFill>
                  <a:srgbClr val="334155"/>
                </a:solidFill>
                <a:latin typeface="DM Sans"/>
              </a:rPr>
              <a:t>•</a:t>
            </a:r>
          </a:p>
        </p:txBody>
      </p:sp>
      <p:sp>
        <p:nvSpPr>
          <p:cNvPr id="34" name="TextBox 33"/>
          <p:cNvSpPr txBox="1"/>
          <p:nvPr/>
        </p:nvSpPr>
        <p:spPr>
          <a:xfrm>
            <a:off x="8588275" y="4424362"/>
            <a:ext cx="3373375" cy="228600"/>
          </a:xfrm>
          <a:prstGeom prst="rect">
            <a:avLst/>
          </a:prstGeom>
          <a:noFill/>
        </p:spPr>
        <p:txBody>
          <a:bodyPr wrap="none" lIns="57150" tIns="0" rIns="0" bIns="0" anchor="t">
            <a:spAutoFit/>
          </a:bodyPr>
          <a:lstStyle/>
          <a:p>
            <a:pPr algn="l"/>
            <a:r>
              <a:rPr sz="1350" b="1" i="0" u="none">
                <a:solidFill>
                  <a:srgbClr val="334155"/>
                </a:solidFill>
                <a:latin typeface="DM Sans"/>
              </a:rPr>
              <a:t>Notices:</a:t>
            </a:r>
            <a:r>
              <a:rPr sz="1350" b="0" i="0" u="none">
                <a:solidFill>
                  <a:srgbClr val="334155"/>
                </a:solidFill>
                <a:latin typeface="DM Sans"/>
              </a:rPr>
              <a:t> English plus Hindi drafts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1436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0" y="0"/>
            <a:ext cx="12192000" cy="6858000"/>
          </a:xfrm>
          <a:prstGeom prst="rect">
            <a:avLst/>
          </a:prstGeom>
        </p:spPr>
      </p:pic>
      <p:sp>
        <p:nvSpPr>
          <p:cNvPr id="5" name="TextBox 4"/>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10 • VALIDATION PROTOCOL</a:t>
            </a:r>
          </a:p>
        </p:txBody>
      </p:sp>
      <p:sp>
        <p:nvSpPr>
          <p:cNvPr id="6" name="TextBox 5"/>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Multi-Dimensional Evaluation Plan</a:t>
            </a:r>
          </a:p>
        </p:txBody>
      </p:sp>
      <p:sp>
        <p:nvSpPr>
          <p:cNvPr id="7" name="TextBox 6"/>
          <p:cNvSpPr txBox="1"/>
          <p:nvPr/>
        </p:nvSpPr>
        <p:spPr>
          <a:xfrm>
            <a:off x="609600" y="6267450"/>
            <a:ext cx="7870031" cy="171450"/>
          </a:xfrm>
          <a:prstGeom prst="rect">
            <a:avLst/>
          </a:prstGeom>
          <a:noFill/>
        </p:spPr>
        <p:txBody>
          <a:bodyPr wrap="none" lIns="0" tIns="0" rIns="0" bIns="0" anchor="t">
            <a:spAutoFit/>
          </a:bodyPr>
          <a:lstStyle/>
          <a:p>
            <a:pPr algn="l"/>
            <a:r>
              <a:rPr sz="1050" b="0" i="0" u="none">
                <a:solidFill>
                  <a:srgbClr val="475569"/>
                </a:solidFill>
                <a:latin typeface="DM Sans"/>
              </a:rPr>
              <a:t>Note: Study is at proposal stage; bars denote planned analytical scope rather than completed scores.</a:t>
            </a:r>
          </a:p>
        </p:txBody>
      </p:sp>
      <p:sp>
        <p:nvSpPr>
          <p:cNvPr id="8" name="TextBox 7"/>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619250"/>
            <a:ext cx="10972800" cy="36099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09600" y="1619250"/>
          <a:ext cx="10963272" cy="3609975"/>
        </p:xfrm>
        <a:graphic>
          <a:graphicData uri="http://schemas.openxmlformats.org/drawingml/2006/table">
            <a:tbl>
              <a:tblPr/>
              <a:tblGrid>
                <a:gridCol w="2740818">
                  <a:extLst>
                    <a:ext uri="{9D8B030D-6E8A-4147-A177-3AD203B41FA5}">
                      <a16:colId xmlns:a16="http://schemas.microsoft.com/office/drawing/2014/main" val="20000"/>
                    </a:ext>
                  </a:extLst>
                </a:gridCol>
                <a:gridCol w="2740818">
                  <a:extLst>
                    <a:ext uri="{9D8B030D-6E8A-4147-A177-3AD203B41FA5}">
                      <a16:colId xmlns:a16="http://schemas.microsoft.com/office/drawing/2014/main" val="20001"/>
                    </a:ext>
                  </a:extLst>
                </a:gridCol>
                <a:gridCol w="2740818">
                  <a:extLst>
                    <a:ext uri="{9D8B030D-6E8A-4147-A177-3AD203B41FA5}">
                      <a16:colId xmlns:a16="http://schemas.microsoft.com/office/drawing/2014/main" val="20002"/>
                    </a:ext>
                  </a:extLst>
                </a:gridCol>
                <a:gridCol w="2740818">
                  <a:extLst>
                    <a:ext uri="{9D8B030D-6E8A-4147-A177-3AD203B41FA5}">
                      <a16:colId xmlns:a16="http://schemas.microsoft.com/office/drawing/2014/main" val="20003"/>
                    </a:ext>
                  </a:extLst>
                </a:gridCol>
              </a:tblGrid>
              <a:tr h="721995">
                <a:tc>
                  <a:txBody>
                    <a:bodyPr/>
                    <a:lstStyle/>
                    <a:p>
                      <a:pPr algn="l"/>
                      <a:r>
                        <a:rPr sz="1350" b="1" i="0" u="none">
                          <a:solidFill>
                            <a:srgbClr val="F8FAFC"/>
                          </a:solidFill>
                          <a:latin typeface="DM Sans"/>
                        </a:rPr>
                        <a:t>Experimental Arm</a:t>
                      </a:r>
                    </a:p>
                  </a:txBody>
                  <a:tcPr marL="63500" marR="63500" marT="25400" marB="25400" anchor="ctr">
                    <a:lnL>
                      <a:noFill/>
                    </a:lnL>
                    <a:lnR>
                      <a:noFill/>
                    </a:lnR>
                    <a:lnT>
                      <a:noFill/>
                    </a:lnT>
                    <a:lnB>
                      <a:noFill/>
                    </a:lnB>
                    <a:solidFill>
                      <a:srgbClr val="1E3A8A"/>
                    </a:solidFill>
                  </a:tcPr>
                </a:tc>
                <a:tc>
                  <a:txBody>
                    <a:bodyPr/>
                    <a:lstStyle/>
                    <a:p>
                      <a:pPr algn="l"/>
                      <a:r>
                        <a:rPr sz="1350" b="1" i="0" u="none">
                          <a:solidFill>
                            <a:srgbClr val="F8FAFC"/>
                          </a:solidFill>
                          <a:latin typeface="DM Sans"/>
                        </a:rPr>
                        <a:t>Input Provided</a:t>
                      </a:r>
                    </a:p>
                  </a:txBody>
                  <a:tcPr marL="63500" marR="63500" marT="25400" marB="25400" anchor="ctr">
                    <a:lnL>
                      <a:noFill/>
                    </a:lnL>
                    <a:lnR>
                      <a:noFill/>
                    </a:lnR>
                    <a:lnT>
                      <a:noFill/>
                    </a:lnT>
                    <a:lnB>
                      <a:noFill/>
                    </a:lnB>
                    <a:solidFill>
                      <a:srgbClr val="1E3A8A"/>
                    </a:solidFill>
                  </a:tcPr>
                </a:tc>
                <a:tc>
                  <a:txBody>
                    <a:bodyPr/>
                    <a:lstStyle/>
                    <a:p>
                      <a:pPr algn="l"/>
                      <a:r>
                        <a:rPr sz="1350" b="1" i="0" u="none">
                          <a:solidFill>
                            <a:srgbClr val="F8FAFC"/>
                          </a:solidFill>
                          <a:latin typeface="DM Sans"/>
                        </a:rPr>
                        <a:t>Generation Mechanism</a:t>
                      </a:r>
                    </a:p>
                  </a:txBody>
                  <a:tcPr marL="63500" marR="63500" marT="25400" marB="25400" anchor="ctr">
                    <a:lnL>
                      <a:noFill/>
                    </a:lnL>
                    <a:lnR>
                      <a:noFill/>
                    </a:lnR>
                    <a:lnT>
                      <a:noFill/>
                    </a:lnT>
                    <a:lnB>
                      <a:noFill/>
                    </a:lnB>
                    <a:solidFill>
                      <a:srgbClr val="1E3A8A"/>
                    </a:solidFill>
                  </a:tcPr>
                </a:tc>
                <a:tc>
                  <a:txBody>
                    <a:bodyPr/>
                    <a:lstStyle/>
                    <a:p>
                      <a:pPr algn="l"/>
                      <a:r>
                        <a:rPr sz="1350" b="1" i="0" u="none">
                          <a:solidFill>
                            <a:srgbClr val="F8FAFC"/>
                          </a:solidFill>
                          <a:latin typeface="DM Sans"/>
                        </a:rPr>
                        <a:t>Scientific Purpose</a:t>
                      </a:r>
                    </a:p>
                  </a:txBody>
                  <a:tcPr marL="63500" marR="63500" marT="25400" marB="25400" anchor="ctr">
                    <a:lnL>
                      <a:noFill/>
                    </a:lnL>
                    <a:lnR>
                      <a:noFill/>
                    </a:lnR>
                    <a:lnT>
                      <a:noFill/>
                    </a:lnT>
                    <a:lnB>
                      <a:noFill/>
                    </a:lnB>
                    <a:solidFill>
                      <a:srgbClr val="1E3A8A"/>
                    </a:solidFill>
                  </a:tcPr>
                </a:tc>
                <a:extLst>
                  <a:ext uri="{0D108BD9-81ED-4DB2-BD59-A6C34878D82A}">
                    <a16:rowId xmlns:a16="http://schemas.microsoft.com/office/drawing/2014/main" val="10000"/>
                  </a:ext>
                </a:extLst>
              </a:tr>
              <a:tr h="721995">
                <a:tc>
                  <a:txBody>
                    <a:bodyPr/>
                    <a:lstStyle/>
                    <a:p>
                      <a:pPr algn="l"/>
                      <a:r>
                        <a:rPr sz="1350" b="1" i="0" u="none">
                          <a:solidFill>
                            <a:srgbClr val="0F172A"/>
                          </a:solidFill>
                          <a:latin typeface="DM Sans"/>
                        </a:rPr>
                        <a:t>Baseline 1: Raw LLM</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334155"/>
                          </a:solidFill>
                          <a:latin typeface="DM Sans"/>
                        </a:rPr>
                        <a:t>Borrower profile features</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334155"/>
                          </a:solidFill>
                          <a:latin typeface="DM Sans"/>
                        </a:rPr>
                        <a:t>Unconstrained LLM prompt</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B91C1C"/>
                          </a:solidFill>
                          <a:latin typeface="DM Sans"/>
                        </a:rPr>
                        <a:t>Measure standalone hallucination</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721995">
                <a:tc>
                  <a:txBody>
                    <a:bodyPr/>
                    <a:lstStyle/>
                    <a:p>
                      <a:pPr algn="l"/>
                      <a:r>
                        <a:rPr sz="1350" b="1" i="0" u="none">
                          <a:solidFill>
                            <a:srgbClr val="0F172A"/>
                          </a:solidFill>
                          <a:latin typeface="DM Sans"/>
                        </a:rPr>
                        <a:t>Baseline 2: Rule Template</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Top-3 negative SHAP array</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Deterministic slot-filling</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Compare readability vs. rigidity</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721995">
                <a:tc>
                  <a:txBody>
                    <a:bodyPr/>
                    <a:lstStyle/>
                    <a:p>
                      <a:pPr algn="l"/>
                      <a:r>
                        <a:rPr sz="1350" b="1" i="0" u="none">
                          <a:solidFill>
                            <a:srgbClr val="0D9488"/>
                          </a:solidFill>
                          <a:latin typeface="DM Sans"/>
                        </a:rPr>
                        <a:t>Proposed: Dual-Agent</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334155"/>
                          </a:solidFill>
                          <a:latin typeface="DM Sans"/>
                        </a:rPr>
                        <a:t>Verified Top-3 SHAP JSON</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334155"/>
                          </a:solidFill>
                          <a:latin typeface="DM Sans"/>
                        </a:rPr>
                        <a:t>Schema-constrained local LLM</a:t>
                      </a:r>
                    </a:p>
                  </a:txBody>
                  <a:tcPr marL="63500" marR="63500" marT="25400" marB="25400" anchor="ctr">
                    <a:lnL>
                      <a:noFill/>
                    </a:lnL>
                    <a:lnR>
                      <a:noFill/>
                    </a:lnR>
                    <a:lnT>
                      <a:noFill/>
                    </a:lnT>
                    <a:lnB>
                      <a:noFill/>
                    </a:lnB>
                    <a:solidFill>
                      <a:srgbClr val="FFFFFF"/>
                    </a:solidFill>
                  </a:tcPr>
                </a:tc>
                <a:tc>
                  <a:txBody>
                    <a:bodyPr/>
                    <a:lstStyle/>
                    <a:p>
                      <a:pPr algn="l"/>
                      <a:r>
                        <a:rPr sz="1350" b="1" i="0" u="none">
                          <a:solidFill>
                            <a:srgbClr val="0D9488"/>
                          </a:solidFill>
                          <a:latin typeface="DM Sans"/>
                        </a:rPr>
                        <a:t>Test faithful bilingual notices</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721995">
                <a:tc>
                  <a:txBody>
                    <a:bodyPr/>
                    <a:lstStyle/>
                    <a:p>
                      <a:pPr algn="l"/>
                      <a:r>
                        <a:rPr sz="1350" b="1" i="0" u="none">
                          <a:solidFill>
                            <a:srgbClr val="1E3A8A"/>
                          </a:solidFill>
                          <a:latin typeface="DM Sans"/>
                        </a:rPr>
                        <a:t>Gold Reference</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Top-3 SHAP + RBI rubric</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Human compliance drafting</a:t>
                      </a:r>
                    </a:p>
                  </a:txBody>
                  <a:tcPr marL="63500" marR="63500" marT="25400" marB="25400" anchor="ctr">
                    <a:lnL>
                      <a:noFill/>
                    </a:lnL>
                    <a:lnR>
                      <a:noFill/>
                    </a:lnR>
                    <a:lnT>
                      <a:noFill/>
                    </a:lnT>
                    <a:lnB>
                      <a:noFill/>
                    </a:lnB>
                    <a:solidFill>
                      <a:srgbClr val="F8FAFC"/>
                    </a:solidFill>
                  </a:tcPr>
                </a:tc>
                <a:tc>
                  <a:txBody>
                    <a:bodyPr/>
                    <a:lstStyle/>
                    <a:p>
                      <a:pPr algn="l"/>
                      <a:r>
                        <a:rPr sz="1350" b="0" i="0" u="none">
                          <a:solidFill>
                            <a:srgbClr val="334155"/>
                          </a:solidFill>
                          <a:latin typeface="DM Sans"/>
                        </a:rPr>
                        <a:t>Ground-truth compliance audit</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D97706"/>
                </a:solidFill>
                <a:latin typeface="IBM Plex Mono"/>
              </a:rPr>
              <a:t>11 • ABLATION &amp; CONTROLS</a:t>
            </a:r>
          </a:p>
        </p:txBody>
      </p:sp>
      <p:sp>
        <p:nvSpPr>
          <p:cNvPr id="7" name="TextBox 6"/>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Experimental Controls &amp; Baselines</a:t>
            </a:r>
          </a:p>
        </p:txBody>
      </p:sp>
      <p:sp>
        <p:nvSpPr>
          <p:cNvPr id="8" name="TextBox 7"/>
          <p:cNvSpPr txBox="1"/>
          <p:nvPr/>
        </p:nvSpPr>
        <p:spPr>
          <a:xfrm>
            <a:off x="609600" y="5419725"/>
            <a:ext cx="11582400" cy="228600"/>
          </a:xfrm>
          <a:prstGeom prst="rect">
            <a:avLst/>
          </a:prstGeom>
          <a:noFill/>
        </p:spPr>
        <p:txBody>
          <a:bodyPr wrap="none" lIns="0" tIns="0" rIns="0" bIns="0" anchor="t">
            <a:spAutoFit/>
          </a:bodyPr>
          <a:lstStyle/>
          <a:p>
            <a:pPr algn="l"/>
            <a:r>
              <a:rPr sz="1350" b="1" i="0" u="none">
                <a:solidFill>
                  <a:srgbClr val="334155"/>
                </a:solidFill>
                <a:latin typeface="DM Sans"/>
              </a:rPr>
              <a:t>Control Variables:</a:t>
            </a:r>
            <a:r>
              <a:rPr sz="1350" b="0" i="0" u="none">
                <a:solidFill>
                  <a:srgbClr val="334155"/>
                </a:solidFill>
                <a:latin typeface="DM Sans"/>
              </a:rPr>
              <a:t> Fixed random seeds, deterministic decoding (temperature = 0.0), identical 4-bit quantization across models.</a:t>
            </a:r>
          </a:p>
        </p:txBody>
      </p:sp>
      <p:sp>
        <p:nvSpPr>
          <p:cNvPr id="9" name="TextBox 8"/>
          <p:cNvSpPr txBox="1"/>
          <p:nvPr/>
        </p:nvSpPr>
        <p:spPr>
          <a:xfrm>
            <a:off x="609600" y="6267450"/>
            <a:ext cx="4036218" cy="171450"/>
          </a:xfrm>
          <a:prstGeom prst="rect">
            <a:avLst/>
          </a:prstGeom>
          <a:noFill/>
        </p:spPr>
        <p:txBody>
          <a:bodyPr wrap="none" lIns="0" tIns="0" rIns="0" bIns="0" anchor="t">
            <a:spAutoFit/>
          </a:bodyPr>
          <a:lstStyle/>
          <a:p>
            <a:pPr algn="l"/>
            <a:r>
              <a:rPr sz="1050" b="0" i="0" u="none">
                <a:solidFill>
                  <a:srgbClr val="475569"/>
                </a:solidFill>
                <a:latin typeface="DM Sans"/>
              </a:rPr>
              <a:t>Citations: Geng et al. (2026); Lundberg &amp; Lee (2017).</a:t>
            </a:r>
          </a:p>
        </p:txBody>
      </p:sp>
      <p:sp>
        <p:nvSpPr>
          <p:cNvPr id="10" name="TextBox 9"/>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614612"/>
            <a:ext cx="2571750" cy="2038350"/>
          </a:xfrm>
          <a:prstGeom prst="roundRect">
            <a:avLst>
              <a:gd name="adj" fmla="val 560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09950" y="2747962"/>
            <a:ext cx="2571750" cy="1771650"/>
          </a:xfrm>
          <a:prstGeom prst="roundRect">
            <a:avLst>
              <a:gd name="adj" fmla="val 645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10300" y="2614612"/>
            <a:ext cx="2571750" cy="2038350"/>
          </a:xfrm>
          <a:prstGeom prst="roundRect">
            <a:avLst>
              <a:gd name="adj" fmla="val 560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010650" y="2747962"/>
            <a:ext cx="2571750" cy="1771650"/>
          </a:xfrm>
          <a:prstGeom prst="roundRect">
            <a:avLst>
              <a:gd name="adj" fmla="val 645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6143625"/>
            <a:ext cx="10972800" cy="9525"/>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85825" y="2890837"/>
            <a:ext cx="304800" cy="266700"/>
          </a:xfrm>
          <a:prstGeom prst="rect">
            <a:avLst/>
          </a:prstGeom>
        </p:spPr>
      </p:pic>
      <p:pic>
        <p:nvPicPr>
          <p:cNvPr id="9" name="Picture 8" descr="image.png"/>
          <p:cNvPicPr>
            <a:picLocks noChangeAspect="1"/>
          </p:cNvPicPr>
          <p:nvPr/>
        </p:nvPicPr>
        <p:blipFill>
          <a:blip r:embed="rId4"/>
          <a:stretch>
            <a:fillRect/>
          </a:stretch>
        </p:blipFill>
        <p:spPr>
          <a:xfrm>
            <a:off x="3686175" y="3024187"/>
            <a:ext cx="304800" cy="266700"/>
          </a:xfrm>
          <a:prstGeom prst="rect">
            <a:avLst/>
          </a:prstGeom>
        </p:spPr>
      </p:pic>
      <p:pic>
        <p:nvPicPr>
          <p:cNvPr id="10" name="Picture 9" descr="image.png"/>
          <p:cNvPicPr>
            <a:picLocks noChangeAspect="1"/>
          </p:cNvPicPr>
          <p:nvPr/>
        </p:nvPicPr>
        <p:blipFill>
          <a:blip r:embed="rId5"/>
          <a:stretch>
            <a:fillRect/>
          </a:stretch>
        </p:blipFill>
        <p:spPr>
          <a:xfrm>
            <a:off x="6486525" y="2890837"/>
            <a:ext cx="200025" cy="266700"/>
          </a:xfrm>
          <a:prstGeom prst="rect">
            <a:avLst/>
          </a:prstGeom>
        </p:spPr>
      </p:pic>
      <p:pic>
        <p:nvPicPr>
          <p:cNvPr id="11" name="Picture 10" descr="image.png"/>
          <p:cNvPicPr>
            <a:picLocks noChangeAspect="1"/>
          </p:cNvPicPr>
          <p:nvPr/>
        </p:nvPicPr>
        <p:blipFill>
          <a:blip r:embed="rId6"/>
          <a:stretch>
            <a:fillRect/>
          </a:stretch>
        </p:blipFill>
        <p:spPr>
          <a:xfrm>
            <a:off x="9286875" y="3024187"/>
            <a:ext cx="266700" cy="266700"/>
          </a:xfrm>
          <a:prstGeom prst="rect">
            <a:avLst/>
          </a:prstGeom>
        </p:spPr>
      </p:pic>
      <p:sp>
        <p:nvSpPr>
          <p:cNvPr id="12" name="TextBox 11"/>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0D9488"/>
                </a:solidFill>
                <a:latin typeface="IBM Plex Mono"/>
              </a:rPr>
              <a:t>12 • RESEARCH IMPACT</a:t>
            </a:r>
          </a:p>
        </p:txBody>
      </p:sp>
      <p:sp>
        <p:nvSpPr>
          <p:cNvPr id="13" name="TextBox 12"/>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Expected Research Contributions</a:t>
            </a:r>
          </a:p>
        </p:txBody>
      </p:sp>
      <p:sp>
        <p:nvSpPr>
          <p:cNvPr id="14" name="TextBox 13"/>
          <p:cNvSpPr txBox="1"/>
          <p:nvPr/>
        </p:nvSpPr>
        <p:spPr>
          <a:xfrm>
            <a:off x="609600" y="6267450"/>
            <a:ext cx="7667625" cy="171450"/>
          </a:xfrm>
          <a:prstGeom prst="rect">
            <a:avLst/>
          </a:prstGeom>
          <a:noFill/>
        </p:spPr>
        <p:txBody>
          <a:bodyPr wrap="none" lIns="0" tIns="0" rIns="0" bIns="0" anchor="t">
            <a:spAutoFit/>
          </a:bodyPr>
          <a:lstStyle/>
          <a:p>
            <a:pPr algn="l"/>
            <a:r>
              <a:rPr sz="1050" b="0" i="0" u="none">
                <a:solidFill>
                  <a:srgbClr val="475569"/>
                </a:solidFill>
                <a:latin typeface="DM Sans"/>
              </a:rPr>
              <a:t>Advancing Explainable AI from mathematical feature weights to auditable borrower communication.</a:t>
            </a:r>
          </a:p>
        </p:txBody>
      </p:sp>
      <p:sp>
        <p:nvSpPr>
          <p:cNvPr id="15" name="TextBox 14"/>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13</a:t>
            </a:r>
          </a:p>
        </p:txBody>
      </p:sp>
      <p:sp>
        <p:nvSpPr>
          <p:cNvPr id="16" name="TextBox 15"/>
          <p:cNvSpPr txBox="1"/>
          <p:nvPr/>
        </p:nvSpPr>
        <p:spPr>
          <a:xfrm>
            <a:off x="885825" y="3290887"/>
            <a:ext cx="2220277" cy="533400"/>
          </a:xfrm>
          <a:prstGeom prst="rect">
            <a:avLst/>
          </a:prstGeom>
          <a:noFill/>
        </p:spPr>
        <p:txBody>
          <a:bodyPr wrap="square" lIns="0" tIns="0" rIns="0" bIns="0" anchor="t">
            <a:spAutoFit/>
          </a:bodyPr>
          <a:lstStyle/>
          <a:p>
            <a:pPr algn="l"/>
            <a:r>
              <a:rPr sz="1575" b="1" i="0" u="none">
                <a:solidFill>
                  <a:srgbClr val="0F172A"/>
                </a:solidFill>
                <a:latin typeface="DM Sans"/>
              </a:rPr>
              <a:t>Edge-RegTech Blueprint</a:t>
            </a:r>
          </a:p>
        </p:txBody>
      </p:sp>
      <p:sp>
        <p:nvSpPr>
          <p:cNvPr id="17" name="TextBox 16"/>
          <p:cNvSpPr txBox="1"/>
          <p:nvPr/>
        </p:nvSpPr>
        <p:spPr>
          <a:xfrm>
            <a:off x="885825" y="3919537"/>
            <a:ext cx="2114550" cy="457200"/>
          </a:xfrm>
          <a:prstGeom prst="rect">
            <a:avLst/>
          </a:prstGeom>
          <a:noFill/>
        </p:spPr>
        <p:txBody>
          <a:bodyPr wrap="square" lIns="0" tIns="0" rIns="0" bIns="0" anchor="t">
            <a:spAutoFit/>
          </a:bodyPr>
          <a:lstStyle/>
          <a:p>
            <a:pPr algn="l"/>
            <a:r>
              <a:rPr sz="1350" b="0" i="0" u="none">
                <a:solidFill>
                  <a:srgbClr val="334155"/>
                </a:solidFill>
                <a:latin typeface="DM Sans"/>
              </a:rPr>
              <a:t>API-free local dual-agent architecture.</a:t>
            </a:r>
          </a:p>
        </p:txBody>
      </p:sp>
      <p:sp>
        <p:nvSpPr>
          <p:cNvPr id="18" name="TextBox 17"/>
          <p:cNvSpPr txBox="1"/>
          <p:nvPr/>
        </p:nvSpPr>
        <p:spPr>
          <a:xfrm>
            <a:off x="3686175" y="3424237"/>
            <a:ext cx="2650331" cy="266700"/>
          </a:xfrm>
          <a:prstGeom prst="rect">
            <a:avLst/>
          </a:prstGeom>
          <a:noFill/>
        </p:spPr>
        <p:txBody>
          <a:bodyPr wrap="none" lIns="0" tIns="0" rIns="0" bIns="0" anchor="t">
            <a:spAutoFit/>
          </a:bodyPr>
          <a:lstStyle/>
          <a:p>
            <a:pPr algn="l"/>
            <a:r>
              <a:rPr sz="1575" b="1" i="0" u="none">
                <a:solidFill>
                  <a:srgbClr val="0F172A"/>
                </a:solidFill>
                <a:latin typeface="DM Sans"/>
              </a:rPr>
              <a:t>Fidelity Verification</a:t>
            </a:r>
          </a:p>
        </p:txBody>
      </p:sp>
      <p:sp>
        <p:nvSpPr>
          <p:cNvPr id="19" name="TextBox 18"/>
          <p:cNvSpPr txBox="1"/>
          <p:nvPr/>
        </p:nvSpPr>
        <p:spPr>
          <a:xfrm>
            <a:off x="3686175" y="3786187"/>
            <a:ext cx="2114550" cy="457200"/>
          </a:xfrm>
          <a:prstGeom prst="rect">
            <a:avLst/>
          </a:prstGeom>
          <a:noFill/>
        </p:spPr>
        <p:txBody>
          <a:bodyPr wrap="square" lIns="0" tIns="0" rIns="0" bIns="0" anchor="t">
            <a:spAutoFit/>
          </a:bodyPr>
          <a:lstStyle/>
          <a:p>
            <a:pPr algn="l"/>
            <a:r>
              <a:rPr sz="1350" b="0" i="0" u="none">
                <a:solidFill>
                  <a:srgbClr val="334155"/>
                </a:solidFill>
                <a:latin typeface="DM Sans"/>
              </a:rPr>
              <a:t>Empirical SHAP-to-text rank validation.</a:t>
            </a:r>
          </a:p>
        </p:txBody>
      </p:sp>
      <p:sp>
        <p:nvSpPr>
          <p:cNvPr id="20" name="TextBox 19"/>
          <p:cNvSpPr txBox="1"/>
          <p:nvPr/>
        </p:nvSpPr>
        <p:spPr>
          <a:xfrm>
            <a:off x="6486525" y="3290887"/>
            <a:ext cx="2220277" cy="533400"/>
          </a:xfrm>
          <a:prstGeom prst="rect">
            <a:avLst/>
          </a:prstGeom>
          <a:noFill/>
        </p:spPr>
        <p:txBody>
          <a:bodyPr wrap="square" lIns="0" tIns="0" rIns="0" bIns="0" anchor="t">
            <a:spAutoFit/>
          </a:bodyPr>
          <a:lstStyle/>
          <a:p>
            <a:pPr algn="l"/>
            <a:r>
              <a:rPr sz="1575" b="1" i="0" u="none">
                <a:solidFill>
                  <a:srgbClr val="0F172A"/>
                </a:solidFill>
                <a:latin typeface="DM Sans"/>
              </a:rPr>
              <a:t>RBI Notice Automation</a:t>
            </a:r>
          </a:p>
        </p:txBody>
      </p:sp>
      <p:sp>
        <p:nvSpPr>
          <p:cNvPr id="21" name="TextBox 20"/>
          <p:cNvSpPr txBox="1"/>
          <p:nvPr/>
        </p:nvSpPr>
        <p:spPr>
          <a:xfrm>
            <a:off x="6486525" y="3919537"/>
            <a:ext cx="2114550" cy="457200"/>
          </a:xfrm>
          <a:prstGeom prst="rect">
            <a:avLst/>
          </a:prstGeom>
          <a:noFill/>
        </p:spPr>
        <p:txBody>
          <a:bodyPr wrap="square" lIns="0" tIns="0" rIns="0" bIns="0" anchor="t">
            <a:spAutoFit/>
          </a:bodyPr>
          <a:lstStyle/>
          <a:p>
            <a:pPr algn="l"/>
            <a:r>
              <a:rPr sz="1350" b="0" i="0" u="none">
                <a:solidFill>
                  <a:srgbClr val="334155"/>
                </a:solidFill>
                <a:latin typeface="DM Sans"/>
              </a:rPr>
              <a:t>Structured adverse action notice workflow.</a:t>
            </a:r>
          </a:p>
        </p:txBody>
      </p:sp>
      <p:sp>
        <p:nvSpPr>
          <p:cNvPr id="22" name="TextBox 21"/>
          <p:cNvSpPr txBox="1"/>
          <p:nvPr/>
        </p:nvSpPr>
        <p:spPr>
          <a:xfrm>
            <a:off x="9286875" y="3424237"/>
            <a:ext cx="2650331" cy="266700"/>
          </a:xfrm>
          <a:prstGeom prst="rect">
            <a:avLst/>
          </a:prstGeom>
          <a:noFill/>
        </p:spPr>
        <p:txBody>
          <a:bodyPr wrap="none" lIns="0" tIns="0" rIns="0" bIns="0" anchor="t">
            <a:spAutoFit/>
          </a:bodyPr>
          <a:lstStyle/>
          <a:p>
            <a:pPr algn="l"/>
            <a:r>
              <a:rPr sz="1575" b="1" i="0" u="none">
                <a:solidFill>
                  <a:srgbClr val="0F172A"/>
                </a:solidFill>
                <a:latin typeface="DM Sans"/>
              </a:rPr>
              <a:t>Bilingual Inclusivity</a:t>
            </a:r>
          </a:p>
        </p:txBody>
      </p:sp>
      <p:sp>
        <p:nvSpPr>
          <p:cNvPr id="23" name="TextBox 22"/>
          <p:cNvSpPr txBox="1"/>
          <p:nvPr/>
        </p:nvSpPr>
        <p:spPr>
          <a:xfrm>
            <a:off x="9286875" y="3786187"/>
            <a:ext cx="2114550" cy="457200"/>
          </a:xfrm>
          <a:prstGeom prst="rect">
            <a:avLst/>
          </a:prstGeom>
          <a:noFill/>
        </p:spPr>
        <p:txBody>
          <a:bodyPr wrap="square" lIns="0" tIns="0" rIns="0" bIns="0" anchor="t">
            <a:spAutoFit/>
          </a:bodyPr>
          <a:lstStyle/>
          <a:p>
            <a:pPr algn="l"/>
            <a:r>
              <a:rPr sz="1350" b="0" i="0" u="none">
                <a:solidFill>
                  <a:srgbClr val="334155"/>
                </a:solidFill>
                <a:latin typeface="DM Sans"/>
              </a:rPr>
              <a:t>Comparative English-Hindi borrower clarity.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981200"/>
            <a:ext cx="5314950" cy="3305175"/>
          </a:xfrm>
          <a:prstGeom prst="roundRect">
            <a:avLst>
              <a:gd name="adj" fmla="val 345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267450" y="2209800"/>
            <a:ext cx="5314950" cy="2847975"/>
          </a:xfrm>
          <a:prstGeom prst="roundRect">
            <a:avLst>
              <a:gd name="adj" fmla="val 401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614362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D97706"/>
                </a:solidFill>
                <a:latin typeface="IBM Plex Mono"/>
              </a:rPr>
              <a:t>13 • RIGOR &amp; BOUNDARIES</a:t>
            </a:r>
          </a:p>
        </p:txBody>
      </p:sp>
      <p:sp>
        <p:nvSpPr>
          <p:cNvPr id="7" name="TextBox 6"/>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0F172A"/>
                </a:solidFill>
                <a:latin typeface="DM Sans"/>
              </a:rPr>
              <a:t>Scope, Limitations &amp; Ethics</a:t>
            </a:r>
          </a:p>
        </p:txBody>
      </p:sp>
      <p:sp>
        <p:nvSpPr>
          <p:cNvPr id="8" name="TextBox 7"/>
          <p:cNvSpPr txBox="1"/>
          <p:nvPr/>
        </p:nvSpPr>
        <p:spPr>
          <a:xfrm>
            <a:off x="609600" y="6267450"/>
            <a:ext cx="7084218" cy="171450"/>
          </a:xfrm>
          <a:prstGeom prst="rect">
            <a:avLst/>
          </a:prstGeom>
          <a:noFill/>
        </p:spPr>
        <p:txBody>
          <a:bodyPr wrap="none" lIns="0" tIns="0" rIns="0" bIns="0" anchor="t">
            <a:spAutoFit/>
          </a:bodyPr>
          <a:lstStyle/>
          <a:p>
            <a:pPr algn="l"/>
            <a:r>
              <a:rPr sz="1050" b="0" i="0" u="none">
                <a:solidFill>
                  <a:srgbClr val="475569"/>
                </a:solidFill>
                <a:latin typeface="DM Sans"/>
              </a:rPr>
              <a:t>Designed as a decision-support compliance translator with human-in-the-loop auditability.</a:t>
            </a:r>
          </a:p>
        </p:txBody>
      </p:sp>
      <p:sp>
        <p:nvSpPr>
          <p:cNvPr id="9" name="TextBox 8"/>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0F172A"/>
                </a:solidFill>
                <a:latin typeface="IBM Plex Mono"/>
              </a:rPr>
              <a:t>Slide 14</a:t>
            </a:r>
          </a:p>
        </p:txBody>
      </p:sp>
      <p:sp>
        <p:nvSpPr>
          <p:cNvPr id="10" name="TextBox 9"/>
          <p:cNvSpPr txBox="1"/>
          <p:nvPr/>
        </p:nvSpPr>
        <p:spPr>
          <a:xfrm>
            <a:off x="885825" y="2257425"/>
            <a:ext cx="6250781" cy="276225"/>
          </a:xfrm>
          <a:prstGeom prst="rect">
            <a:avLst/>
          </a:prstGeom>
          <a:noFill/>
        </p:spPr>
        <p:txBody>
          <a:bodyPr wrap="none" lIns="0" tIns="0" rIns="0" bIns="0" anchor="t">
            <a:spAutoFit/>
          </a:bodyPr>
          <a:lstStyle/>
          <a:p>
            <a:pPr algn="l"/>
            <a:r>
              <a:rPr sz="1650" b="1" i="0" u="none">
                <a:solidFill>
                  <a:srgbClr val="1E3A8A"/>
                </a:solidFill>
                <a:latin typeface="DM Sans"/>
              </a:rPr>
              <a:t>Scope &amp; Methodological Boundaries</a:t>
            </a:r>
          </a:p>
        </p:txBody>
      </p:sp>
      <p:sp>
        <p:nvSpPr>
          <p:cNvPr id="11" name="TextBox 10"/>
          <p:cNvSpPr txBox="1"/>
          <p:nvPr/>
        </p:nvSpPr>
        <p:spPr>
          <a:xfrm>
            <a:off x="6543675" y="2486025"/>
            <a:ext cx="5648325" cy="276225"/>
          </a:xfrm>
          <a:prstGeom prst="rect">
            <a:avLst/>
          </a:prstGeom>
          <a:noFill/>
        </p:spPr>
        <p:txBody>
          <a:bodyPr wrap="none" lIns="0" tIns="0" rIns="0" bIns="0" anchor="t">
            <a:spAutoFit/>
          </a:bodyPr>
          <a:lstStyle/>
          <a:p>
            <a:pPr algn="l"/>
            <a:r>
              <a:rPr sz="1650" b="1" i="0" u="none">
                <a:solidFill>
                  <a:srgbClr val="0F172A"/>
                </a:solidFill>
                <a:latin typeface="DM Sans"/>
              </a:rPr>
              <a:t>Ethical Guardrails &amp; Feasibility</a:t>
            </a:r>
          </a:p>
        </p:txBody>
      </p:sp>
      <p:sp>
        <p:nvSpPr>
          <p:cNvPr id="12" name="TextBox 11"/>
          <p:cNvSpPr txBox="1"/>
          <p:nvPr/>
        </p:nvSpPr>
        <p:spPr>
          <a:xfrm>
            <a:off x="1038225" y="2657475"/>
            <a:ext cx="57150" cy="228600"/>
          </a:xfrm>
          <a:prstGeom prst="rect">
            <a:avLst/>
          </a:prstGeom>
          <a:noFill/>
        </p:spPr>
        <p:txBody>
          <a:bodyPr wrap="none" lIns="0" tIns="0" rIns="0" bIns="0" anchor="t">
            <a:spAutoFit/>
          </a:bodyPr>
          <a:lstStyle/>
          <a:p>
            <a:pPr algn="l"/>
            <a:r>
              <a:rPr sz="1350" b="0" i="0" u="none">
                <a:solidFill>
                  <a:srgbClr val="1E293B"/>
                </a:solidFill>
                <a:latin typeface="DM Sans"/>
              </a:rPr>
              <a:t>•</a:t>
            </a:r>
          </a:p>
        </p:txBody>
      </p:sp>
      <p:sp>
        <p:nvSpPr>
          <p:cNvPr id="13" name="TextBox 12"/>
          <p:cNvSpPr txBox="1"/>
          <p:nvPr/>
        </p:nvSpPr>
        <p:spPr>
          <a:xfrm>
            <a:off x="1095375" y="2686050"/>
            <a:ext cx="4648200" cy="685800"/>
          </a:xfrm>
          <a:prstGeom prst="rect">
            <a:avLst/>
          </a:prstGeom>
          <a:noFill/>
        </p:spPr>
        <p:txBody>
          <a:bodyPr wrap="square" lIns="57150" tIns="0" rIns="0" bIns="0" anchor="t">
            <a:spAutoFit/>
          </a:bodyPr>
          <a:lstStyle/>
          <a:p>
            <a:pPr algn="l"/>
            <a:r>
              <a:rPr sz="1350" b="1" i="0" u="none">
                <a:solidFill>
                  <a:srgbClr val="1E293B"/>
                </a:solidFill>
                <a:latin typeface="DM Sans"/>
              </a:rPr>
              <a:t>Anonymized Proxy Data:</a:t>
            </a:r>
            <a:r>
              <a:rPr sz="1350" b="0" i="0" u="none">
                <a:solidFill>
                  <a:srgbClr val="1E293B"/>
                </a:solidFill>
                <a:latin typeface="DM Sans"/>
              </a:rPr>
              <a:t> Uses public Home Credit and LendingClub benchmarks rather than live private bank records.</a:t>
            </a:r>
          </a:p>
        </p:txBody>
      </p:sp>
      <p:sp>
        <p:nvSpPr>
          <p:cNvPr id="14" name="TextBox 13"/>
          <p:cNvSpPr txBox="1"/>
          <p:nvPr/>
        </p:nvSpPr>
        <p:spPr>
          <a:xfrm>
            <a:off x="1038225" y="3476625"/>
            <a:ext cx="57150" cy="228600"/>
          </a:xfrm>
          <a:prstGeom prst="rect">
            <a:avLst/>
          </a:prstGeom>
          <a:noFill/>
        </p:spPr>
        <p:txBody>
          <a:bodyPr wrap="none" lIns="0" tIns="0" rIns="0" bIns="0" anchor="t">
            <a:spAutoFit/>
          </a:bodyPr>
          <a:lstStyle/>
          <a:p>
            <a:pPr algn="l"/>
            <a:r>
              <a:rPr sz="1350" b="0" i="0" u="none">
                <a:solidFill>
                  <a:srgbClr val="1E293B"/>
                </a:solidFill>
                <a:latin typeface="DM Sans"/>
              </a:rPr>
              <a:t>•</a:t>
            </a:r>
          </a:p>
        </p:txBody>
      </p:sp>
      <p:sp>
        <p:nvSpPr>
          <p:cNvPr id="15" name="TextBox 14"/>
          <p:cNvSpPr txBox="1"/>
          <p:nvPr/>
        </p:nvSpPr>
        <p:spPr>
          <a:xfrm>
            <a:off x="1095375" y="3505200"/>
            <a:ext cx="4648200" cy="685800"/>
          </a:xfrm>
          <a:prstGeom prst="rect">
            <a:avLst/>
          </a:prstGeom>
          <a:noFill/>
        </p:spPr>
        <p:txBody>
          <a:bodyPr wrap="square" lIns="57150" tIns="0" rIns="0" bIns="0" anchor="t">
            <a:spAutoFit/>
          </a:bodyPr>
          <a:lstStyle/>
          <a:p>
            <a:pPr algn="l"/>
            <a:r>
              <a:rPr sz="1350" b="1" i="0" u="none">
                <a:solidFill>
                  <a:srgbClr val="1E293B"/>
                </a:solidFill>
                <a:latin typeface="DM Sans"/>
              </a:rPr>
              <a:t>Existing Open Weights:</a:t>
            </a:r>
            <a:r>
              <a:rPr sz="1350" b="0" i="0" u="none">
                <a:solidFill>
                  <a:srgbClr val="1E293B"/>
                </a:solidFill>
                <a:latin typeface="DM Sans"/>
              </a:rPr>
              <a:t> Uses instruction-tuned open models via prompt constraints without foundational pre-training.</a:t>
            </a:r>
          </a:p>
        </p:txBody>
      </p:sp>
      <p:sp>
        <p:nvSpPr>
          <p:cNvPr id="16" name="TextBox 15"/>
          <p:cNvSpPr txBox="1"/>
          <p:nvPr/>
        </p:nvSpPr>
        <p:spPr>
          <a:xfrm>
            <a:off x="1038225" y="4295775"/>
            <a:ext cx="57150" cy="228600"/>
          </a:xfrm>
          <a:prstGeom prst="rect">
            <a:avLst/>
          </a:prstGeom>
          <a:noFill/>
        </p:spPr>
        <p:txBody>
          <a:bodyPr wrap="none" lIns="0" tIns="0" rIns="0" bIns="0" anchor="t">
            <a:spAutoFit/>
          </a:bodyPr>
          <a:lstStyle/>
          <a:p>
            <a:pPr algn="l"/>
            <a:r>
              <a:rPr sz="1350" b="0" i="0" u="none">
                <a:solidFill>
                  <a:srgbClr val="1E293B"/>
                </a:solidFill>
                <a:latin typeface="DM Sans"/>
              </a:rPr>
              <a:t>•</a:t>
            </a:r>
          </a:p>
        </p:txBody>
      </p:sp>
      <p:sp>
        <p:nvSpPr>
          <p:cNvPr id="17" name="TextBox 16"/>
          <p:cNvSpPr txBox="1"/>
          <p:nvPr/>
        </p:nvSpPr>
        <p:spPr>
          <a:xfrm>
            <a:off x="1095375" y="4324350"/>
            <a:ext cx="4648200" cy="685800"/>
          </a:xfrm>
          <a:prstGeom prst="rect">
            <a:avLst/>
          </a:prstGeom>
          <a:noFill/>
        </p:spPr>
        <p:txBody>
          <a:bodyPr wrap="square" lIns="57150" tIns="0" rIns="0" bIns="0" anchor="t">
            <a:spAutoFit/>
          </a:bodyPr>
          <a:lstStyle/>
          <a:p>
            <a:pPr algn="l"/>
            <a:r>
              <a:rPr sz="1350" b="1" i="0" u="none">
                <a:solidFill>
                  <a:srgbClr val="1E293B"/>
                </a:solidFill>
                <a:latin typeface="DM Sans"/>
              </a:rPr>
              <a:t>Explainability Focus:</a:t>
            </a:r>
            <a:r>
              <a:rPr sz="1350" b="0" i="0" u="none">
                <a:solidFill>
                  <a:srgbClr val="1E293B"/>
                </a:solidFill>
                <a:latin typeface="DM Sans"/>
              </a:rPr>
              <a:t> Evaluates explanation translation fidelity rather than optimizing underlying default-prediction AUC.</a:t>
            </a:r>
          </a:p>
        </p:txBody>
      </p:sp>
      <p:sp>
        <p:nvSpPr>
          <p:cNvPr id="18" name="TextBox 17"/>
          <p:cNvSpPr txBox="1"/>
          <p:nvPr/>
        </p:nvSpPr>
        <p:spPr>
          <a:xfrm>
            <a:off x="6696075" y="2886075"/>
            <a:ext cx="57150" cy="228600"/>
          </a:xfrm>
          <a:prstGeom prst="rect">
            <a:avLst/>
          </a:prstGeom>
          <a:noFill/>
        </p:spPr>
        <p:txBody>
          <a:bodyPr wrap="none" lIns="0" tIns="0" rIns="0" bIns="0" anchor="t">
            <a:spAutoFit/>
          </a:bodyPr>
          <a:lstStyle/>
          <a:p>
            <a:pPr algn="l"/>
            <a:r>
              <a:rPr sz="1350" b="0" i="0" u="none">
                <a:solidFill>
                  <a:srgbClr val="1E293B"/>
                </a:solidFill>
                <a:latin typeface="DM Sans"/>
              </a:rPr>
              <a:t>•</a:t>
            </a:r>
          </a:p>
        </p:txBody>
      </p:sp>
      <p:sp>
        <p:nvSpPr>
          <p:cNvPr id="19" name="TextBox 18"/>
          <p:cNvSpPr txBox="1"/>
          <p:nvPr/>
        </p:nvSpPr>
        <p:spPr>
          <a:xfrm>
            <a:off x="6753225" y="2914650"/>
            <a:ext cx="4648200" cy="457200"/>
          </a:xfrm>
          <a:prstGeom prst="rect">
            <a:avLst/>
          </a:prstGeom>
          <a:noFill/>
        </p:spPr>
        <p:txBody>
          <a:bodyPr wrap="square" lIns="57150" tIns="0" rIns="0" bIns="0" anchor="t">
            <a:spAutoFit/>
          </a:bodyPr>
          <a:lstStyle/>
          <a:p>
            <a:pPr algn="l"/>
            <a:r>
              <a:rPr sz="1350" b="1" i="0" u="none">
                <a:solidFill>
                  <a:srgbClr val="1E293B"/>
                </a:solidFill>
                <a:latin typeface="DM Sans"/>
              </a:rPr>
              <a:t>Associative Attribution:</a:t>
            </a:r>
            <a:r>
              <a:rPr sz="1350" b="0" i="0" u="none">
                <a:solidFill>
                  <a:srgbClr val="1E293B"/>
                </a:solidFill>
                <a:latin typeface="DM Sans"/>
              </a:rPr>
              <a:t> SHAP explains internal model behaviour, not real-world causal effects.</a:t>
            </a:r>
          </a:p>
        </p:txBody>
      </p:sp>
      <p:sp>
        <p:nvSpPr>
          <p:cNvPr id="20" name="TextBox 19"/>
          <p:cNvSpPr txBox="1"/>
          <p:nvPr/>
        </p:nvSpPr>
        <p:spPr>
          <a:xfrm>
            <a:off x="6696075" y="3476625"/>
            <a:ext cx="57150" cy="228600"/>
          </a:xfrm>
          <a:prstGeom prst="rect">
            <a:avLst/>
          </a:prstGeom>
          <a:noFill/>
        </p:spPr>
        <p:txBody>
          <a:bodyPr wrap="none" lIns="0" tIns="0" rIns="0" bIns="0" anchor="t">
            <a:spAutoFit/>
          </a:bodyPr>
          <a:lstStyle/>
          <a:p>
            <a:pPr algn="l"/>
            <a:r>
              <a:rPr sz="1350" b="0" i="0" u="none">
                <a:solidFill>
                  <a:srgbClr val="1E293B"/>
                </a:solidFill>
                <a:latin typeface="DM Sans"/>
              </a:rPr>
              <a:t>•</a:t>
            </a:r>
          </a:p>
        </p:txBody>
      </p:sp>
      <p:sp>
        <p:nvSpPr>
          <p:cNvPr id="21" name="TextBox 20"/>
          <p:cNvSpPr txBox="1"/>
          <p:nvPr/>
        </p:nvSpPr>
        <p:spPr>
          <a:xfrm>
            <a:off x="6753225" y="3505200"/>
            <a:ext cx="4648200" cy="685800"/>
          </a:xfrm>
          <a:prstGeom prst="rect">
            <a:avLst/>
          </a:prstGeom>
          <a:noFill/>
        </p:spPr>
        <p:txBody>
          <a:bodyPr wrap="square" lIns="57150" tIns="0" rIns="0" bIns="0" anchor="t">
            <a:spAutoFit/>
          </a:bodyPr>
          <a:lstStyle/>
          <a:p>
            <a:pPr algn="l"/>
            <a:r>
              <a:rPr sz="1350" b="1" i="0" u="none">
                <a:solidFill>
                  <a:srgbClr val="1E293B"/>
                </a:solidFill>
                <a:latin typeface="DM Sans"/>
              </a:rPr>
              <a:t>Measured Claims:</a:t>
            </a:r>
            <a:r>
              <a:rPr sz="1350" b="0" i="0" u="none">
                <a:solidFill>
                  <a:srgbClr val="1E293B"/>
                </a:solidFill>
                <a:latin typeface="DM Sans"/>
              </a:rPr>
              <a:t> Reduces hallucination and privacy exposure; does not claim zero error or automatic legal sign-off.</a:t>
            </a:r>
          </a:p>
        </p:txBody>
      </p:sp>
      <p:sp>
        <p:nvSpPr>
          <p:cNvPr id="22" name="TextBox 21"/>
          <p:cNvSpPr txBox="1"/>
          <p:nvPr/>
        </p:nvSpPr>
        <p:spPr>
          <a:xfrm>
            <a:off x="6696075" y="4295775"/>
            <a:ext cx="57150" cy="228600"/>
          </a:xfrm>
          <a:prstGeom prst="rect">
            <a:avLst/>
          </a:prstGeom>
          <a:noFill/>
        </p:spPr>
        <p:txBody>
          <a:bodyPr wrap="none" lIns="0" tIns="0" rIns="0" bIns="0" anchor="t">
            <a:spAutoFit/>
          </a:bodyPr>
          <a:lstStyle/>
          <a:p>
            <a:pPr algn="l"/>
            <a:r>
              <a:rPr sz="1350" b="0" i="0" u="none">
                <a:solidFill>
                  <a:srgbClr val="1E293B"/>
                </a:solidFill>
                <a:latin typeface="DM Sans"/>
              </a:rPr>
              <a:t>•</a:t>
            </a:r>
          </a:p>
        </p:txBody>
      </p:sp>
      <p:sp>
        <p:nvSpPr>
          <p:cNvPr id="23" name="TextBox 22"/>
          <p:cNvSpPr txBox="1"/>
          <p:nvPr/>
        </p:nvSpPr>
        <p:spPr>
          <a:xfrm>
            <a:off x="6753225" y="4324350"/>
            <a:ext cx="4648200" cy="457200"/>
          </a:xfrm>
          <a:prstGeom prst="rect">
            <a:avLst/>
          </a:prstGeom>
          <a:noFill/>
        </p:spPr>
        <p:txBody>
          <a:bodyPr wrap="square" lIns="57150" tIns="0" rIns="0" bIns="0" anchor="t">
            <a:spAutoFit/>
          </a:bodyPr>
          <a:lstStyle/>
          <a:p>
            <a:pPr algn="l"/>
            <a:r>
              <a:rPr sz="1350" b="1" i="0" u="none">
                <a:solidFill>
                  <a:srgbClr val="1E293B"/>
                </a:solidFill>
                <a:latin typeface="DM Sans"/>
              </a:rPr>
              <a:t>Hardware Feasibility:</a:t>
            </a:r>
            <a:r>
              <a:rPr sz="1350" b="0" i="0" u="none">
                <a:solidFill>
                  <a:srgbClr val="1E293B"/>
                </a:solidFill>
                <a:latin typeface="DM Sans"/>
              </a:rPr>
              <a:t> Quantized 7B–8B models run locally on a single 16–24 GB VRAM workstation.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09600" y="6143625"/>
            <a:ext cx="10972800" cy="295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048125"/>
            <a:ext cx="10972800" cy="1162050"/>
          </a:xfrm>
          <a:prstGeom prst="roundRect">
            <a:avLst>
              <a:gd name="adj" fmla="val 9836"/>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143625"/>
            <a:ext cx="109728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2057400"/>
            <a:ext cx="1717625" cy="1724025"/>
          </a:xfrm>
          <a:prstGeom prst="roundRect">
            <a:avLst>
              <a:gd name="adj" fmla="val 5545"/>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460575" y="2057400"/>
            <a:ext cx="1717625" cy="1724025"/>
          </a:xfrm>
          <a:prstGeom prst="roundRect">
            <a:avLst>
              <a:gd name="adj" fmla="val 5545"/>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11550" y="2057400"/>
            <a:ext cx="1717625" cy="1724025"/>
          </a:xfrm>
          <a:prstGeom prst="roundRect">
            <a:avLst>
              <a:gd name="adj" fmla="val 5545"/>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62526" y="2057400"/>
            <a:ext cx="1717625" cy="1724025"/>
          </a:xfrm>
          <a:prstGeom prst="roundRect">
            <a:avLst>
              <a:gd name="adj" fmla="val 5545"/>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13501" y="2152650"/>
            <a:ext cx="1717625" cy="1533525"/>
          </a:xfrm>
          <a:prstGeom prst="roundRect">
            <a:avLst>
              <a:gd name="adj" fmla="val 6211"/>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864476" y="2171700"/>
            <a:ext cx="1717625" cy="1495425"/>
          </a:xfrm>
          <a:prstGeom prst="roundRect">
            <a:avLst>
              <a:gd name="adj" fmla="val 6369"/>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419100"/>
            <a:ext cx="11068050" cy="219075"/>
          </a:xfrm>
          <a:prstGeom prst="rect">
            <a:avLst/>
          </a:prstGeom>
          <a:noFill/>
        </p:spPr>
        <p:txBody>
          <a:bodyPr wrap="square" lIns="0" tIns="0" rIns="0" bIns="0" anchor="t">
            <a:spAutoFit/>
          </a:bodyPr>
          <a:lstStyle/>
          <a:p>
            <a:pPr algn="l"/>
            <a:r>
              <a:rPr sz="1050" b="1" i="0" u="none">
                <a:solidFill>
                  <a:srgbClr val="2DD4BF"/>
                </a:solidFill>
                <a:latin typeface="IBM Plex Mono"/>
              </a:rPr>
              <a:t>14 • 36-MONTH DOCTORAL ROADMAP &amp; DEFENSE</a:t>
            </a:r>
          </a:p>
        </p:txBody>
      </p:sp>
      <p:sp>
        <p:nvSpPr>
          <p:cNvPr id="12" name="TextBox 11"/>
          <p:cNvSpPr txBox="1"/>
          <p:nvPr/>
        </p:nvSpPr>
        <p:spPr>
          <a:xfrm>
            <a:off x="609600" y="695325"/>
            <a:ext cx="11582400" cy="428625"/>
          </a:xfrm>
          <a:prstGeom prst="rect">
            <a:avLst/>
          </a:prstGeom>
          <a:noFill/>
        </p:spPr>
        <p:txBody>
          <a:bodyPr wrap="none" lIns="0" tIns="0" rIns="0" bIns="0" anchor="t">
            <a:spAutoFit/>
          </a:bodyPr>
          <a:lstStyle/>
          <a:p>
            <a:pPr algn="l"/>
            <a:r>
              <a:rPr sz="2550" b="1" i="0" u="none">
                <a:solidFill>
                  <a:srgbClr val="F8FAFC"/>
                </a:solidFill>
                <a:latin typeface="DM Sans"/>
              </a:rPr>
              <a:t>Timeline, Conclusion &amp; Discussion</a:t>
            </a:r>
          </a:p>
        </p:txBody>
      </p:sp>
      <p:sp>
        <p:nvSpPr>
          <p:cNvPr id="13" name="TextBox 12"/>
          <p:cNvSpPr txBox="1"/>
          <p:nvPr/>
        </p:nvSpPr>
        <p:spPr>
          <a:xfrm>
            <a:off x="609600" y="6267450"/>
            <a:ext cx="9001125" cy="171450"/>
          </a:xfrm>
          <a:prstGeom prst="rect">
            <a:avLst/>
          </a:prstGeom>
          <a:noFill/>
        </p:spPr>
        <p:txBody>
          <a:bodyPr wrap="none" lIns="0" tIns="0" rIns="0" bIns="0" anchor="t">
            <a:spAutoFit/>
          </a:bodyPr>
          <a:lstStyle/>
          <a:p>
            <a:pPr algn="l"/>
            <a:r>
              <a:rPr sz="1050" b="0" i="0" u="none">
                <a:solidFill>
                  <a:srgbClr val="94A3B8"/>
                </a:solidFill>
                <a:latin typeface="DM Sans"/>
              </a:rPr>
              <a:t>Key References: RBI (2006, 2022); Lundberg &amp; Lee (2017); Aljunaid et al. (2025); Geng et al. (2026); Wu et al. (2026).</a:t>
            </a:r>
          </a:p>
        </p:txBody>
      </p:sp>
      <p:sp>
        <p:nvSpPr>
          <p:cNvPr id="14" name="TextBox 13"/>
          <p:cNvSpPr txBox="1"/>
          <p:nvPr/>
        </p:nvSpPr>
        <p:spPr>
          <a:xfrm>
            <a:off x="10972800" y="6267450"/>
            <a:ext cx="895350" cy="171450"/>
          </a:xfrm>
          <a:prstGeom prst="rect">
            <a:avLst/>
          </a:prstGeom>
          <a:noFill/>
        </p:spPr>
        <p:txBody>
          <a:bodyPr wrap="none" lIns="0" tIns="0" rIns="0" bIns="0" anchor="t">
            <a:spAutoFit/>
          </a:bodyPr>
          <a:lstStyle/>
          <a:p>
            <a:pPr algn="l"/>
            <a:r>
              <a:rPr sz="1050" b="0" i="0" u="none">
                <a:solidFill>
                  <a:srgbClr val="2DD4BF"/>
                </a:solidFill>
                <a:latin typeface="IBM Plex Mono"/>
              </a:rPr>
              <a:t>Slide 15</a:t>
            </a:r>
          </a:p>
        </p:txBody>
      </p:sp>
      <p:sp>
        <p:nvSpPr>
          <p:cNvPr id="15" name="TextBox 14"/>
          <p:cNvSpPr txBox="1"/>
          <p:nvPr/>
        </p:nvSpPr>
        <p:spPr>
          <a:xfrm>
            <a:off x="-166687" y="4314825"/>
            <a:ext cx="12525375" cy="323850"/>
          </a:xfrm>
          <a:prstGeom prst="rect">
            <a:avLst/>
          </a:prstGeom>
          <a:noFill/>
        </p:spPr>
        <p:txBody>
          <a:bodyPr wrap="none" lIns="0" tIns="0" rIns="0" bIns="0" anchor="t">
            <a:spAutoFit/>
          </a:bodyPr>
          <a:lstStyle/>
          <a:p>
            <a:pPr algn="ctr"/>
            <a:r>
              <a:rPr sz="1950" b="1" i="0" u="none">
                <a:solidFill>
                  <a:srgbClr val="F8FAFC"/>
                </a:solidFill>
                <a:latin typeface="DM Sans"/>
              </a:rPr>
              <a:t>Thank You • Open for Doctoral Committee Questions</a:t>
            </a:r>
          </a:p>
        </p:txBody>
      </p:sp>
      <p:sp>
        <p:nvSpPr>
          <p:cNvPr id="16" name="TextBox 15"/>
          <p:cNvSpPr txBox="1"/>
          <p:nvPr/>
        </p:nvSpPr>
        <p:spPr>
          <a:xfrm>
            <a:off x="-166687" y="4714875"/>
            <a:ext cx="12525375" cy="228600"/>
          </a:xfrm>
          <a:prstGeom prst="rect">
            <a:avLst/>
          </a:prstGeom>
          <a:noFill/>
        </p:spPr>
        <p:txBody>
          <a:bodyPr wrap="none" lIns="0" tIns="0" rIns="0" bIns="0" anchor="t">
            <a:spAutoFit/>
          </a:bodyPr>
          <a:lstStyle/>
          <a:p>
            <a:pPr algn="ctr"/>
            <a:r>
              <a:rPr sz="1350" b="0" i="0" u="none">
                <a:solidFill>
                  <a:srgbClr val="CBD5E1"/>
                </a:solidFill>
                <a:latin typeface="DM Sans"/>
              </a:rPr>
              <a:t>Prajapati Jaiprakash Ramashrey (Roll No. 25380178004) • Under Guidance of Prof. (Dr.) Himangi Verma • Desh Bhagat University</a:t>
            </a:r>
          </a:p>
        </p:txBody>
      </p:sp>
      <p:sp>
        <p:nvSpPr>
          <p:cNvPr id="17" name="TextBox 16"/>
          <p:cNvSpPr txBox="1"/>
          <p:nvPr/>
        </p:nvSpPr>
        <p:spPr>
          <a:xfrm>
            <a:off x="790575" y="2238375"/>
            <a:ext cx="1450925" cy="219075"/>
          </a:xfrm>
          <a:prstGeom prst="rect">
            <a:avLst/>
          </a:prstGeom>
          <a:noFill/>
        </p:spPr>
        <p:txBody>
          <a:bodyPr wrap="square" lIns="0" tIns="0" rIns="0" bIns="0" anchor="t">
            <a:spAutoFit/>
          </a:bodyPr>
          <a:lstStyle/>
          <a:p>
            <a:pPr algn="l"/>
            <a:r>
              <a:rPr sz="1050" b="1" i="0" u="none">
                <a:solidFill>
                  <a:srgbClr val="2DD4BF"/>
                </a:solidFill>
                <a:latin typeface="IBM Plex Mono"/>
              </a:rPr>
              <a:t>M1–M6</a:t>
            </a:r>
          </a:p>
        </p:txBody>
      </p:sp>
      <p:sp>
        <p:nvSpPr>
          <p:cNvPr id="18" name="TextBox 17"/>
          <p:cNvSpPr txBox="1"/>
          <p:nvPr/>
        </p:nvSpPr>
        <p:spPr>
          <a:xfrm>
            <a:off x="790575" y="2514600"/>
            <a:ext cx="1523471" cy="457200"/>
          </a:xfrm>
          <a:prstGeom prst="rect">
            <a:avLst/>
          </a:prstGeom>
          <a:noFill/>
        </p:spPr>
        <p:txBody>
          <a:bodyPr wrap="square" lIns="0" tIns="0" rIns="0" bIns="0" anchor="t">
            <a:spAutoFit/>
          </a:bodyPr>
          <a:lstStyle/>
          <a:p>
            <a:pPr algn="l"/>
            <a:r>
              <a:rPr sz="1350" b="1" i="0" u="none">
                <a:solidFill>
                  <a:srgbClr val="F8FAFC"/>
                </a:solidFill>
                <a:latin typeface="DM Sans"/>
              </a:rPr>
              <a:t>Phase 1: Foundation</a:t>
            </a:r>
          </a:p>
        </p:txBody>
      </p:sp>
      <p:sp>
        <p:nvSpPr>
          <p:cNvPr id="19" name="TextBox 18"/>
          <p:cNvSpPr txBox="1"/>
          <p:nvPr/>
        </p:nvSpPr>
        <p:spPr>
          <a:xfrm>
            <a:off x="790575" y="3028950"/>
            <a:ext cx="1450925" cy="571500"/>
          </a:xfrm>
          <a:prstGeom prst="rect">
            <a:avLst/>
          </a:prstGeom>
          <a:noFill/>
        </p:spPr>
        <p:txBody>
          <a:bodyPr wrap="square" lIns="0" tIns="0" rIns="0" bIns="0" anchor="t">
            <a:spAutoFit/>
          </a:bodyPr>
          <a:lstStyle/>
          <a:p>
            <a:pPr algn="l"/>
            <a:r>
              <a:rPr sz="1125" b="0" i="0" u="none">
                <a:solidFill>
                  <a:srgbClr val="CBD5E1"/>
                </a:solidFill>
                <a:latin typeface="DM Sans"/>
              </a:rPr>
              <a:t>Coursework, literature review, evaluation rubric</a:t>
            </a:r>
          </a:p>
        </p:txBody>
      </p:sp>
      <p:sp>
        <p:nvSpPr>
          <p:cNvPr id="20" name="TextBox 19"/>
          <p:cNvSpPr txBox="1"/>
          <p:nvPr/>
        </p:nvSpPr>
        <p:spPr>
          <a:xfrm>
            <a:off x="2641550" y="2238375"/>
            <a:ext cx="1450925" cy="219075"/>
          </a:xfrm>
          <a:prstGeom prst="rect">
            <a:avLst/>
          </a:prstGeom>
          <a:noFill/>
        </p:spPr>
        <p:txBody>
          <a:bodyPr wrap="square" lIns="0" tIns="0" rIns="0" bIns="0" anchor="t">
            <a:spAutoFit/>
          </a:bodyPr>
          <a:lstStyle/>
          <a:p>
            <a:pPr algn="l"/>
            <a:r>
              <a:rPr sz="1050" b="1" i="0" u="none">
                <a:solidFill>
                  <a:srgbClr val="2DD4BF"/>
                </a:solidFill>
                <a:latin typeface="IBM Plex Mono"/>
              </a:rPr>
              <a:t>M7–M12</a:t>
            </a:r>
          </a:p>
        </p:txBody>
      </p:sp>
      <p:sp>
        <p:nvSpPr>
          <p:cNvPr id="21" name="TextBox 20"/>
          <p:cNvSpPr txBox="1"/>
          <p:nvPr/>
        </p:nvSpPr>
        <p:spPr>
          <a:xfrm>
            <a:off x="2641550" y="2514600"/>
            <a:ext cx="1523471" cy="457200"/>
          </a:xfrm>
          <a:prstGeom prst="rect">
            <a:avLst/>
          </a:prstGeom>
          <a:noFill/>
        </p:spPr>
        <p:txBody>
          <a:bodyPr wrap="square" lIns="0" tIns="0" rIns="0" bIns="0" anchor="t">
            <a:spAutoFit/>
          </a:bodyPr>
          <a:lstStyle/>
          <a:p>
            <a:pPr algn="l"/>
            <a:r>
              <a:rPr sz="1350" b="1" i="0" u="none">
                <a:solidFill>
                  <a:srgbClr val="F8FAFC"/>
                </a:solidFill>
                <a:latin typeface="DM Sans"/>
              </a:rPr>
              <a:t>Phase 2: Underwriter</a:t>
            </a:r>
          </a:p>
        </p:txBody>
      </p:sp>
      <p:sp>
        <p:nvSpPr>
          <p:cNvPr id="22" name="TextBox 21"/>
          <p:cNvSpPr txBox="1"/>
          <p:nvPr/>
        </p:nvSpPr>
        <p:spPr>
          <a:xfrm>
            <a:off x="2641550" y="3028950"/>
            <a:ext cx="1450925" cy="571500"/>
          </a:xfrm>
          <a:prstGeom prst="rect">
            <a:avLst/>
          </a:prstGeom>
          <a:noFill/>
        </p:spPr>
        <p:txBody>
          <a:bodyPr wrap="square" lIns="0" tIns="0" rIns="0" bIns="0" anchor="t">
            <a:spAutoFit/>
          </a:bodyPr>
          <a:lstStyle/>
          <a:p>
            <a:pPr algn="l"/>
            <a:r>
              <a:rPr sz="1125" b="0" i="0" u="none">
                <a:solidFill>
                  <a:srgbClr val="CBD5E1"/>
                </a:solidFill>
                <a:latin typeface="DM Sans"/>
              </a:rPr>
              <a:t>XGBoost/LGBM training &amp; TreeSHAP vectors</a:t>
            </a:r>
          </a:p>
        </p:txBody>
      </p:sp>
      <p:sp>
        <p:nvSpPr>
          <p:cNvPr id="23" name="TextBox 22"/>
          <p:cNvSpPr txBox="1"/>
          <p:nvPr/>
        </p:nvSpPr>
        <p:spPr>
          <a:xfrm>
            <a:off x="4492525" y="2238375"/>
            <a:ext cx="1450925" cy="219075"/>
          </a:xfrm>
          <a:prstGeom prst="rect">
            <a:avLst/>
          </a:prstGeom>
          <a:noFill/>
        </p:spPr>
        <p:txBody>
          <a:bodyPr wrap="square" lIns="0" tIns="0" rIns="0" bIns="0" anchor="t">
            <a:spAutoFit/>
          </a:bodyPr>
          <a:lstStyle/>
          <a:p>
            <a:pPr algn="l"/>
            <a:r>
              <a:rPr sz="1050" b="1" i="0" u="none">
                <a:solidFill>
                  <a:srgbClr val="F59E0B"/>
                </a:solidFill>
                <a:latin typeface="IBM Plex Mono"/>
              </a:rPr>
              <a:t>M13–M18</a:t>
            </a:r>
          </a:p>
        </p:txBody>
      </p:sp>
      <p:sp>
        <p:nvSpPr>
          <p:cNvPr id="24" name="TextBox 23"/>
          <p:cNvSpPr txBox="1"/>
          <p:nvPr/>
        </p:nvSpPr>
        <p:spPr>
          <a:xfrm>
            <a:off x="4492525" y="2514600"/>
            <a:ext cx="1523471" cy="457200"/>
          </a:xfrm>
          <a:prstGeom prst="rect">
            <a:avLst/>
          </a:prstGeom>
          <a:noFill/>
        </p:spPr>
        <p:txBody>
          <a:bodyPr wrap="square" lIns="0" tIns="0" rIns="0" bIns="0" anchor="t">
            <a:spAutoFit/>
          </a:bodyPr>
          <a:lstStyle/>
          <a:p>
            <a:pPr algn="l"/>
            <a:r>
              <a:rPr sz="1350" b="1" i="0" u="none">
                <a:solidFill>
                  <a:srgbClr val="F8FAFC"/>
                </a:solidFill>
                <a:latin typeface="DM Sans"/>
              </a:rPr>
              <a:t>Phase 3: LLM Agent</a:t>
            </a:r>
          </a:p>
        </p:txBody>
      </p:sp>
      <p:sp>
        <p:nvSpPr>
          <p:cNvPr id="25" name="TextBox 24"/>
          <p:cNvSpPr txBox="1"/>
          <p:nvPr/>
        </p:nvSpPr>
        <p:spPr>
          <a:xfrm>
            <a:off x="4492525" y="3028950"/>
            <a:ext cx="1450925" cy="571500"/>
          </a:xfrm>
          <a:prstGeom prst="rect">
            <a:avLst/>
          </a:prstGeom>
          <a:noFill/>
        </p:spPr>
        <p:txBody>
          <a:bodyPr wrap="square" lIns="0" tIns="0" rIns="0" bIns="0" anchor="t">
            <a:spAutoFit/>
          </a:bodyPr>
          <a:lstStyle/>
          <a:p>
            <a:pPr algn="l"/>
            <a:r>
              <a:rPr sz="1125" b="0" i="0" u="none">
                <a:solidFill>
                  <a:srgbClr val="CBD5E1"/>
                </a:solidFill>
                <a:latin typeface="DM Sans"/>
              </a:rPr>
              <a:t>Local Ollama setup &amp; constrained prompts</a:t>
            </a:r>
          </a:p>
        </p:txBody>
      </p:sp>
      <p:sp>
        <p:nvSpPr>
          <p:cNvPr id="26" name="TextBox 25"/>
          <p:cNvSpPr txBox="1"/>
          <p:nvPr/>
        </p:nvSpPr>
        <p:spPr>
          <a:xfrm>
            <a:off x="6343501" y="2238375"/>
            <a:ext cx="1450925" cy="219075"/>
          </a:xfrm>
          <a:prstGeom prst="rect">
            <a:avLst/>
          </a:prstGeom>
          <a:noFill/>
        </p:spPr>
        <p:txBody>
          <a:bodyPr wrap="square" lIns="0" tIns="0" rIns="0" bIns="0" anchor="t">
            <a:spAutoFit/>
          </a:bodyPr>
          <a:lstStyle/>
          <a:p>
            <a:pPr algn="l"/>
            <a:r>
              <a:rPr sz="1050" b="1" i="0" u="none">
                <a:solidFill>
                  <a:srgbClr val="F59E0B"/>
                </a:solidFill>
                <a:latin typeface="IBM Plex Mono"/>
              </a:rPr>
              <a:t>M19–M24</a:t>
            </a:r>
          </a:p>
        </p:txBody>
      </p:sp>
      <p:sp>
        <p:nvSpPr>
          <p:cNvPr id="27" name="TextBox 26"/>
          <p:cNvSpPr txBox="1"/>
          <p:nvPr/>
        </p:nvSpPr>
        <p:spPr>
          <a:xfrm>
            <a:off x="6343501" y="2514600"/>
            <a:ext cx="1523471" cy="457200"/>
          </a:xfrm>
          <a:prstGeom prst="rect">
            <a:avLst/>
          </a:prstGeom>
          <a:noFill/>
        </p:spPr>
        <p:txBody>
          <a:bodyPr wrap="square" lIns="0" tIns="0" rIns="0" bIns="0" anchor="t">
            <a:spAutoFit/>
          </a:bodyPr>
          <a:lstStyle/>
          <a:p>
            <a:pPr algn="l"/>
            <a:r>
              <a:rPr sz="1350" b="1" i="0" u="none">
                <a:solidFill>
                  <a:srgbClr val="F8FAFC"/>
                </a:solidFill>
                <a:latin typeface="DM Sans"/>
              </a:rPr>
              <a:t>Phase 4: Edge Pipeline</a:t>
            </a:r>
          </a:p>
        </p:txBody>
      </p:sp>
      <p:sp>
        <p:nvSpPr>
          <p:cNvPr id="28" name="TextBox 27"/>
          <p:cNvSpPr txBox="1"/>
          <p:nvPr/>
        </p:nvSpPr>
        <p:spPr>
          <a:xfrm>
            <a:off x="6343501" y="3028950"/>
            <a:ext cx="1450925" cy="571500"/>
          </a:xfrm>
          <a:prstGeom prst="rect">
            <a:avLst/>
          </a:prstGeom>
          <a:noFill/>
        </p:spPr>
        <p:txBody>
          <a:bodyPr wrap="square" lIns="0" tIns="0" rIns="0" bIns="0" anchor="t">
            <a:spAutoFit/>
          </a:bodyPr>
          <a:lstStyle/>
          <a:p>
            <a:pPr algn="l"/>
            <a:r>
              <a:rPr sz="1125" b="0" i="0" u="none">
                <a:solidFill>
                  <a:srgbClr val="CBD5E1"/>
                </a:solidFill>
                <a:latin typeface="DM Sans"/>
              </a:rPr>
              <a:t>Multi-agent chaining &amp; air-gapped testing</a:t>
            </a:r>
          </a:p>
        </p:txBody>
      </p:sp>
      <p:sp>
        <p:nvSpPr>
          <p:cNvPr id="29" name="TextBox 28"/>
          <p:cNvSpPr txBox="1"/>
          <p:nvPr/>
        </p:nvSpPr>
        <p:spPr>
          <a:xfrm>
            <a:off x="8194476" y="2333625"/>
            <a:ext cx="1450925" cy="219075"/>
          </a:xfrm>
          <a:prstGeom prst="rect">
            <a:avLst/>
          </a:prstGeom>
          <a:noFill/>
        </p:spPr>
        <p:txBody>
          <a:bodyPr wrap="square" lIns="0" tIns="0" rIns="0" bIns="0" anchor="t">
            <a:spAutoFit/>
          </a:bodyPr>
          <a:lstStyle/>
          <a:p>
            <a:pPr algn="l"/>
            <a:r>
              <a:rPr sz="1050" b="1" i="0" u="none">
                <a:solidFill>
                  <a:srgbClr val="2DD4BF"/>
                </a:solidFill>
                <a:latin typeface="IBM Plex Mono"/>
              </a:rPr>
              <a:t>M25–M30</a:t>
            </a:r>
          </a:p>
        </p:txBody>
      </p:sp>
      <p:sp>
        <p:nvSpPr>
          <p:cNvPr id="30" name="TextBox 29"/>
          <p:cNvSpPr txBox="1"/>
          <p:nvPr/>
        </p:nvSpPr>
        <p:spPr>
          <a:xfrm>
            <a:off x="8194476" y="2609850"/>
            <a:ext cx="1523471" cy="457200"/>
          </a:xfrm>
          <a:prstGeom prst="rect">
            <a:avLst/>
          </a:prstGeom>
          <a:noFill/>
        </p:spPr>
        <p:txBody>
          <a:bodyPr wrap="square" lIns="0" tIns="0" rIns="0" bIns="0" anchor="t">
            <a:spAutoFit/>
          </a:bodyPr>
          <a:lstStyle/>
          <a:p>
            <a:pPr algn="l"/>
            <a:r>
              <a:rPr sz="1350" b="1" i="0" u="none">
                <a:solidFill>
                  <a:srgbClr val="F8FAFC"/>
                </a:solidFill>
                <a:latin typeface="DM Sans"/>
              </a:rPr>
              <a:t>Phase 5: Validation</a:t>
            </a:r>
          </a:p>
        </p:txBody>
      </p:sp>
      <p:sp>
        <p:nvSpPr>
          <p:cNvPr id="31" name="TextBox 30"/>
          <p:cNvSpPr txBox="1"/>
          <p:nvPr/>
        </p:nvSpPr>
        <p:spPr>
          <a:xfrm>
            <a:off x="8194476" y="3124200"/>
            <a:ext cx="1450925" cy="381000"/>
          </a:xfrm>
          <a:prstGeom prst="rect">
            <a:avLst/>
          </a:prstGeom>
          <a:noFill/>
        </p:spPr>
        <p:txBody>
          <a:bodyPr wrap="square" lIns="0" tIns="0" rIns="0" bIns="0" anchor="t">
            <a:spAutoFit/>
          </a:bodyPr>
          <a:lstStyle/>
          <a:p>
            <a:pPr algn="l"/>
            <a:r>
              <a:rPr sz="1125" b="0" i="0" u="none">
                <a:solidFill>
                  <a:srgbClr val="CBD5E1"/>
                </a:solidFill>
                <a:latin typeface="DM Sans"/>
              </a:rPr>
              <a:t>Kendall’s τ, HER, STS, Hindi evaluation</a:t>
            </a:r>
          </a:p>
        </p:txBody>
      </p:sp>
      <p:sp>
        <p:nvSpPr>
          <p:cNvPr id="32" name="TextBox 31"/>
          <p:cNvSpPr txBox="1"/>
          <p:nvPr/>
        </p:nvSpPr>
        <p:spPr>
          <a:xfrm>
            <a:off x="10045451" y="2352675"/>
            <a:ext cx="1450925" cy="219075"/>
          </a:xfrm>
          <a:prstGeom prst="rect">
            <a:avLst/>
          </a:prstGeom>
          <a:noFill/>
        </p:spPr>
        <p:txBody>
          <a:bodyPr wrap="square" lIns="0" tIns="0" rIns="0" bIns="0" anchor="t">
            <a:spAutoFit/>
          </a:bodyPr>
          <a:lstStyle/>
          <a:p>
            <a:pPr algn="l"/>
            <a:r>
              <a:rPr sz="1050" b="1" i="0" u="none">
                <a:solidFill>
                  <a:srgbClr val="2DD4BF"/>
                </a:solidFill>
                <a:latin typeface="IBM Plex Mono"/>
              </a:rPr>
              <a:t>M31–M36</a:t>
            </a:r>
          </a:p>
        </p:txBody>
      </p:sp>
      <p:sp>
        <p:nvSpPr>
          <p:cNvPr id="33" name="TextBox 32"/>
          <p:cNvSpPr txBox="1"/>
          <p:nvPr/>
        </p:nvSpPr>
        <p:spPr>
          <a:xfrm>
            <a:off x="10045451" y="2628900"/>
            <a:ext cx="1779323" cy="228600"/>
          </a:xfrm>
          <a:prstGeom prst="rect">
            <a:avLst/>
          </a:prstGeom>
          <a:noFill/>
        </p:spPr>
        <p:txBody>
          <a:bodyPr wrap="none" lIns="0" tIns="0" rIns="0" bIns="0" anchor="t">
            <a:spAutoFit/>
          </a:bodyPr>
          <a:lstStyle/>
          <a:p>
            <a:pPr algn="l"/>
            <a:r>
              <a:rPr sz="1350" b="1" i="0" u="none">
                <a:solidFill>
                  <a:srgbClr val="F8FAFC"/>
                </a:solidFill>
                <a:latin typeface="DM Sans"/>
              </a:rPr>
              <a:t>Phase 6: Thesis</a:t>
            </a:r>
          </a:p>
        </p:txBody>
      </p:sp>
      <p:sp>
        <p:nvSpPr>
          <p:cNvPr id="34" name="TextBox 33"/>
          <p:cNvSpPr txBox="1"/>
          <p:nvPr/>
        </p:nvSpPr>
        <p:spPr>
          <a:xfrm>
            <a:off x="10045451" y="2914650"/>
            <a:ext cx="1450925" cy="571500"/>
          </a:xfrm>
          <a:prstGeom prst="rect">
            <a:avLst/>
          </a:prstGeom>
          <a:noFill/>
        </p:spPr>
        <p:txBody>
          <a:bodyPr wrap="square" lIns="0" tIns="0" rIns="0" bIns="0" anchor="t">
            <a:spAutoFit/>
          </a:bodyPr>
          <a:lstStyle/>
          <a:p>
            <a:pPr algn="l"/>
            <a:r>
              <a:rPr sz="1125" b="0" i="0" u="none">
                <a:solidFill>
                  <a:srgbClr val="CBD5E1"/>
                </a:solidFill>
                <a:latin typeface="DM Sans"/>
              </a:rPr>
              <a:t>Journal publications &amp; doctoral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1196</TotalTime>
  <Words>3372</Words>
  <Application>Microsoft Office PowerPoint</Application>
  <PresentationFormat>Widescreen</PresentationFormat>
  <Paragraphs>296</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DM Sans</vt:lpstr>
      <vt:lpstr>Calibri</vt:lpstr>
      <vt:lpstr>IBM Plex Mono</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Bhavesh Kumar</cp:lastModifiedBy>
  <cp:revision>2</cp:revision>
  <dcterms:created xsi:type="dcterms:W3CDTF">2013-01-27T09:14:16Z</dcterms:created>
  <dcterms:modified xsi:type="dcterms:W3CDTF">2026-10-23T05:40:57Z</dcterms:modified>
  <cp:category/>
</cp:coreProperties>
</file>